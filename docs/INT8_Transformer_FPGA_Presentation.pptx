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88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sh a" userId="43c82f3c7150fcad" providerId="LiveId" clId="{9E4A3FBD-179F-45D1-B6F9-47A518B5881E}"/>
    <pc:docChg chg="undo custSel addSld modSld">
      <pc:chgData name="shailesh a" userId="43c82f3c7150fcad" providerId="LiveId" clId="{9E4A3FBD-179F-45D1-B6F9-47A518B5881E}" dt="2026-09-07T10:02:29.459" v="19" actId="14100"/>
      <pc:docMkLst>
        <pc:docMk/>
      </pc:docMkLst>
      <pc:sldChg chg="modSp mod">
        <pc:chgData name="shailesh a" userId="43c82f3c7150fcad" providerId="LiveId" clId="{9E4A3FBD-179F-45D1-B6F9-47A518B5881E}" dt="2026-09-07T10:01:50.552" v="10" actId="1076"/>
        <pc:sldMkLst>
          <pc:docMk/>
          <pc:sldMk cId="0" sldId="256"/>
        </pc:sldMkLst>
        <pc:spChg chg="mod">
          <ac:chgData name="shailesh a" userId="43c82f3c7150fcad" providerId="LiveId" clId="{9E4A3FBD-179F-45D1-B6F9-47A518B5881E}" dt="2026-09-07T09:56:12.856" v="9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shailesh a" userId="43c82f3c7150fcad" providerId="LiveId" clId="{9E4A3FBD-179F-45D1-B6F9-47A518B5881E}" dt="2026-09-07T10:01:50.552" v="10" actId="1076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shailesh a" userId="43c82f3c7150fcad" providerId="LiveId" clId="{9E4A3FBD-179F-45D1-B6F9-47A518B5881E}" dt="2026-09-07T09:50:22.594" v="4" actId="1076"/>
        <pc:sldMkLst>
          <pc:docMk/>
          <pc:sldMk cId="0" sldId="261"/>
        </pc:sldMkLst>
        <pc:spChg chg="mod">
          <ac:chgData name="shailesh a" userId="43c82f3c7150fcad" providerId="LiveId" clId="{9E4A3FBD-179F-45D1-B6F9-47A518B5881E}" dt="2026-09-07T09:50:16.579" v="2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shailesh a" userId="43c82f3c7150fcad" providerId="LiveId" clId="{9E4A3FBD-179F-45D1-B6F9-47A518B5881E}" dt="2026-09-07T09:50:19.615" v="3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shailesh a" userId="43c82f3c7150fcad" providerId="LiveId" clId="{9E4A3FBD-179F-45D1-B6F9-47A518B5881E}" dt="2026-09-07T09:50:22.594" v="4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shailesh a" userId="43c82f3c7150fcad" providerId="LiveId" clId="{9E4A3FBD-179F-45D1-B6F9-47A518B5881E}" dt="2026-09-07T09:50:13.138" v="1" actId="1076"/>
          <ac:spMkLst>
            <pc:docMk/>
            <pc:sldMk cId="0" sldId="261"/>
            <ac:spMk id="13" creationId="{00000000-0000-0000-0000-000000000000}"/>
          </ac:spMkLst>
        </pc:spChg>
      </pc:sldChg>
      <pc:sldChg chg="addSp modSp new mod">
        <pc:chgData name="shailesh a" userId="43c82f3c7150fcad" providerId="LiveId" clId="{9E4A3FBD-179F-45D1-B6F9-47A518B5881E}" dt="2026-09-07T10:02:29.459" v="19" actId="14100"/>
        <pc:sldMkLst>
          <pc:docMk/>
          <pc:sldMk cId="1705916494" sldId="266"/>
        </pc:sldMkLst>
        <pc:picChg chg="add mod">
          <ac:chgData name="shailesh a" userId="43c82f3c7150fcad" providerId="LiveId" clId="{9E4A3FBD-179F-45D1-B6F9-47A518B5881E}" dt="2026-09-07T10:02:29.459" v="19" actId="14100"/>
          <ac:picMkLst>
            <pc:docMk/>
            <pc:sldMk cId="1705916494" sldId="266"/>
            <ac:picMk id="3" creationId="{A259FD4E-7CFB-C6C8-8C91-093A62BC13E1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BEF71-D543-4FDB-BA2A-ACF5AC80E615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C6527B-8440-4E4C-B1CA-67F9B4A2EA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589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6527B-8440-4E4C-B1CA-67F9B4A2EA1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245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C6527B-8440-4E4C-B1CA-67F9B4A2EA1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9718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74552" cy="3840480"/>
          </a:xfrm>
          <a:prstGeom prst="rect">
            <a:avLst/>
          </a:prstGeom>
          <a:solidFill>
            <a:srgbClr val="1327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FF"/>
                </a:solidFill>
              </a:rPr>
              <a:t>INT8 Transformer Attention Accelerator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8813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sz="2000" b="0" i="0" dirty="0">
              <a:solidFill>
                <a:srgbClr val="FFFFFF"/>
              </a:solidFill>
            </a:endParaRPr>
          </a:p>
          <a:p>
            <a:pPr algn="ctr"/>
            <a:endParaRPr sz="2000" b="0" i="0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71600" y="3218688"/>
            <a:ext cx="9445752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0C8E0"/>
                </a:solidFill>
              </a:rPr>
              <a:t>Edge Spoken Intent Classification  *  3 Softmax Architectures  *  18/18 Tests 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813048"/>
            <a:ext cx="5760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00E576"/>
                </a:solidFill>
              </a:rPr>
              <a:t>Tier 0 — Integer-Native Shift (Proposed)</a:t>
            </a:r>
          </a:p>
          <a:p>
            <a:pPr algn="l"/>
            <a:r>
              <a:rPr sz="1400" b="0" dirty="0">
                <a:solidFill>
                  <a:srgbClr val="B0C8E0"/>
                </a:solidFill>
              </a:rPr>
              <a:t>Version A — Conventional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C3AED"/>
                </a:solidFill>
              </a:rPr>
              <a:t>github.com/Shailesh-A-hub/int8-transformer-de2-115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E0"/>
                </a:solidFill>
              </a:rPr>
              <a:t>Pure Verilog-2001  |  ModelSim Verified  |  Quartus Prime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14300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6858000" cy="5394960"/>
          </a:xfrm>
          <a:prstGeom prst="rect">
            <a:avLst/>
          </a:prstGeom>
          <a:solidFill>
            <a:srgbClr val="1327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The Challenge: Transformers on Edge FPGAs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8E0"/>
                </a:solidFill>
              </a:rPr>
              <a:t>* Transformers achieve state-of-the-art accuracy in</a:t>
            </a:r>
          </a:p>
          <a:p>
            <a:pPr algn="l"/>
            <a:r>
              <a:rPr sz="1300" b="0">
                <a:solidFill>
                  <a:srgbClr val="B0C8E0"/>
                </a:solidFill>
              </a:rPr>
              <a:t>  NLP and speech intent classification tasks</a:t>
            </a:r>
          </a:p>
          <a:p>
            <a:pPr algn="l"/>
            <a:endParaRPr sz="1300" b="0">
              <a:solidFill>
                <a:srgbClr val="B0C8E0"/>
              </a:solidFill>
            </a:endParaRPr>
          </a:p>
          <a:p>
            <a:pPr algn="l"/>
            <a:r>
              <a:rPr sz="1300" b="0">
                <a:solidFill>
                  <a:srgbClr val="B0C8E0"/>
                </a:solidFill>
              </a:rPr>
              <a:t>* Standard Softmax requires floating-point exponentials</a:t>
            </a:r>
          </a:p>
          <a:p>
            <a:pPr algn="l"/>
            <a:r>
              <a:rPr sz="1300" b="0">
                <a:solidFill>
                  <a:srgbClr val="B0C8E0"/>
                </a:solidFill>
              </a:rPr>
              <a:t>  — NOT natively supported on Cyclone IV FPGA</a:t>
            </a:r>
          </a:p>
          <a:p>
            <a:pPr algn="l"/>
            <a:endParaRPr sz="1300" b="0">
              <a:solidFill>
                <a:srgbClr val="B0C8E0"/>
              </a:solidFill>
            </a:endParaRPr>
          </a:p>
          <a:p>
            <a:pPr algn="l"/>
            <a:r>
              <a:rPr sz="1300" b="0">
                <a:solidFill>
                  <a:srgbClr val="B0C8E0"/>
                </a:solidFill>
              </a:rPr>
              <a:t>* Conventional workaround = Fixed-Point Detour:</a:t>
            </a:r>
          </a:p>
          <a:p>
            <a:pPr algn="l"/>
            <a:r>
              <a:rPr sz="1300" b="0">
                <a:solidFill>
                  <a:srgbClr val="B0C8E0"/>
                </a:solidFill>
              </a:rPr>
              <a:t>  INT8 Scores -&gt; Descale -&gt; 256-entry Exp LUT</a:t>
            </a:r>
          </a:p>
          <a:p>
            <a:pPr algn="l"/>
            <a:r>
              <a:rPr sz="1300" b="0">
                <a:solidFill>
                  <a:srgbClr val="B0C8E0"/>
                </a:solidFill>
              </a:rPr>
              <a:t>  -&gt; Sum -&gt; Divide -&gt; Requantize -&gt; INT8 Output</a:t>
            </a:r>
          </a:p>
          <a:p>
            <a:pPr algn="l"/>
            <a:endParaRPr sz="1300" b="0">
              <a:solidFill>
                <a:srgbClr val="B0C8E0"/>
              </a:solidFill>
            </a:endParaRPr>
          </a:p>
          <a:p>
            <a:pPr algn="l"/>
            <a:r>
              <a:rPr sz="1300" b="0">
                <a:solidFill>
                  <a:srgbClr val="B0C8E0"/>
                </a:solidFill>
              </a:rPr>
              <a:t>* This detour introduces:</a:t>
            </a:r>
          </a:p>
          <a:p>
            <a:pPr algn="l"/>
            <a:r>
              <a:rPr sz="1300" b="0">
                <a:solidFill>
                  <a:srgbClr val="B0C8E0"/>
                </a:solidFill>
              </a:rPr>
              <a:t>  - Extra latency (descale + requant stages = +16 cycles/row)</a:t>
            </a:r>
          </a:p>
          <a:p>
            <a:pPr algn="l"/>
            <a:r>
              <a:rPr sz="1300" b="0">
                <a:solidFill>
                  <a:srgbClr val="B0C8E0"/>
                </a:solidFill>
              </a:rPr>
              <a:t>  - Heavy memory: 256-entry exponential ROM</a:t>
            </a:r>
          </a:p>
          <a:p>
            <a:pPr algn="l"/>
            <a:r>
              <a:rPr sz="1300" b="0">
                <a:solidFill>
                  <a:srgbClr val="B0C8E0"/>
                </a:solidFill>
              </a:rPr>
              <a:t>  - Multiplier usage for scaling 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822960"/>
            <a:ext cx="4434840" cy="2286000"/>
          </a:xfrm>
          <a:prstGeom prst="rect">
            <a:avLst/>
          </a:prstGeom>
          <a:solidFill>
            <a:srgbClr val="122238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0" y="914400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Research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389888"/>
            <a:ext cx="4069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Can integer-native Softmax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eliminate the fixed-point detour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on a Cyclone IV FPGA,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achieving lower latency while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>preserving 100% accuracy?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3291840"/>
            <a:ext cx="4434840" cy="2926080"/>
          </a:xfrm>
          <a:prstGeom prst="rect">
            <a:avLst/>
          </a:prstGeom>
          <a:solidFill>
            <a:srgbClr val="102518"/>
          </a:solidFill>
          <a:ln w="1524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0" y="3383280"/>
            <a:ext cx="4069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76"/>
                </a:solidFill>
              </a:rPr>
              <a:t>Target System Specs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840480"/>
            <a:ext cx="4069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0C8E0"/>
                </a:solidFill>
              </a:rPr>
              <a:t>FPGA:    Cyclone IV EP4CE115F29C7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Board:   Terasic DE2-115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Clock:   50 MHz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Task:    Edge Intent Classification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L = 8 tokens,  D = 32 dims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Vocab:   32 tokens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Classes: 6 smart home intents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</a:rPr>
              <a:t>System Architecture — 8-Stage Inference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14300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1298448" cy="1234440"/>
          </a:xfrm>
          <a:prstGeom prst="rect">
            <a:avLst/>
          </a:prstGeom>
          <a:solidFill>
            <a:srgbClr val="1327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207007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
Token
Embed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29844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-&gt;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19" y="914400"/>
            <a:ext cx="1298448" cy="1234440"/>
          </a:xfrm>
          <a:prstGeom prst="rect">
            <a:avLst/>
          </a:prstGeom>
          <a:solidFill>
            <a:srgbClr val="1327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91639" y="960120"/>
            <a:ext cx="1207007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
Q/K/V
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1" y="129844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-&gt;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39" y="914400"/>
            <a:ext cx="1298448" cy="1234440"/>
          </a:xfrm>
          <a:prstGeom prst="rect">
            <a:avLst/>
          </a:prstGeom>
          <a:solidFill>
            <a:srgbClr val="1327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59" y="960120"/>
            <a:ext cx="1207007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
Attn
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1" y="129844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914400"/>
            <a:ext cx="1298448" cy="1234440"/>
          </a:xfrm>
          <a:prstGeom prst="rect">
            <a:avLst/>
          </a:prstGeom>
          <a:solidFill>
            <a:srgbClr val="13273E"/>
          </a:solidFill>
          <a:ln w="19050">
            <a:solidFill>
              <a:srgbClr val="FF7F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79" y="960120"/>
            <a:ext cx="1207007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4
Softmax
(3 modes)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1" y="129844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-&gt;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79" y="914400"/>
            <a:ext cx="1298448" cy="1234440"/>
          </a:xfrm>
          <a:prstGeom prst="rect">
            <a:avLst/>
          </a:prstGeom>
          <a:solidFill>
            <a:srgbClr val="1327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599" y="960120"/>
            <a:ext cx="1207007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5
Context
Aggr.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1" y="129844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-&gt;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199" y="914400"/>
            <a:ext cx="1298448" cy="1234440"/>
          </a:xfrm>
          <a:prstGeom prst="rect">
            <a:avLst/>
          </a:prstGeom>
          <a:solidFill>
            <a:srgbClr val="1327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60919" y="960120"/>
            <a:ext cx="1207007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6
Mean
Pool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1" y="129844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-&gt;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19" y="914400"/>
            <a:ext cx="1298448" cy="1234440"/>
          </a:xfrm>
          <a:prstGeom prst="rect">
            <a:avLst/>
          </a:prstGeom>
          <a:solidFill>
            <a:srgbClr val="1327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0" y="960120"/>
            <a:ext cx="1207007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
Classify
Logits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0111" y="1298448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-&gt;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9839" y="914400"/>
            <a:ext cx="1298448" cy="1234440"/>
          </a:xfrm>
          <a:prstGeom prst="rect">
            <a:avLst/>
          </a:prstGeom>
          <a:solidFill>
            <a:srgbClr val="13273E"/>
          </a:solidFill>
          <a:ln w="1905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95559" y="960120"/>
            <a:ext cx="1207007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8
Argmax
Intent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21762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7F11"/>
                </a:solidFill>
              </a:rPr>
              <a:t>  &lt;-- Your Research Contribution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423160"/>
            <a:ext cx="3566160" cy="4160520"/>
          </a:xfrm>
          <a:prstGeom prst="rect">
            <a:avLst/>
          </a:prstGeom>
          <a:solidFill>
            <a:srgbClr val="1327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Inputs (Board Switches)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944368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E0"/>
                </a:solidFill>
              </a:rPr>
              <a:t>SW[4:2] -- Sentence selector (0-5)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SW[1:0] -- Softmax mode (0,1,A)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KEY[1]  -- Trigger inference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KEY[0]  -- System reset</a:t>
            </a:r>
          </a:p>
          <a:p>
            <a:pPr algn="l"/>
            <a:endParaRPr sz="1200" b="0">
              <a:solidFill>
                <a:srgbClr val="B0C8E0"/>
              </a:solidFill>
            </a:endParaRPr>
          </a:p>
          <a:p>
            <a:pPr algn="l"/>
            <a:r>
              <a:rPr sz="1200" b="0">
                <a:solidFill>
                  <a:srgbClr val="B0C8E0"/>
                </a:solidFill>
              </a:rPr>
              <a:t>0 -&gt; Turn on the lights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1 -&gt; Turn off the lights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2 -&gt; Increase the volume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3 -&gt; Decrease the volume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4 -&gt; Turn on the heat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5 -&gt; Turn off the heat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23360" y="2423160"/>
            <a:ext cx="4114800" cy="4160520"/>
          </a:xfrm>
          <a:prstGeom prst="rect">
            <a:avLst/>
          </a:prstGeom>
          <a:solidFill>
            <a:srgbClr val="13273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06240" y="2514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RTL Modules (10 .v files)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2944368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E0"/>
                </a:solidFill>
              </a:rPr>
              <a:t>de2_115_top.v     Top-level entity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attention_engine.v  11-stage FSM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weight_roms.v     Self-contained ROMs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int8_mac_array.v  8-lane INT8 MAC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restoring_divider.v  24-bit divider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softmax_tier0.v   Shift-only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softmax_tier1.v   16-LUT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softmax_detour_vA.v  Baseline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cycle_counter.v   HW timing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uart_tx.v         Serial output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2423160"/>
            <a:ext cx="3611880" cy="4160520"/>
          </a:xfrm>
          <a:prstGeom prst="rect">
            <a:avLst/>
          </a:prstGeom>
          <a:solidFill>
            <a:srgbClr val="13273E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03920" y="251460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76"/>
                </a:solidFill>
              </a:rPr>
              <a:t>Outputs (7-seg + LEDs)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2944368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E0"/>
                </a:solidFill>
              </a:rPr>
              <a:t>HEX0       Intent class (0-5)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HEX1       Softmax mode (0,1,A)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HEX2       Sentence ID (0-5)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HEX3       Separator dash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HEX7-HEX4  Cycle count (hex)</a:t>
            </a:r>
          </a:p>
          <a:p>
            <a:pPr algn="l"/>
            <a:endParaRPr sz="1200" b="0">
              <a:solidFill>
                <a:srgbClr val="B0C8E0"/>
              </a:solidFill>
            </a:endParaRPr>
          </a:p>
          <a:p>
            <a:pPr algn="l"/>
            <a:r>
              <a:rPr sz="1200" b="0">
                <a:solidFill>
                  <a:srgbClr val="B0C8E0"/>
                </a:solidFill>
              </a:rPr>
              <a:t>LEDR[17:0] Mirror all switches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LEDG[0]    Engine busy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LEDG[1]    Inference done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LEDG[2]    Heartbeat (1.5 Hz)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</a:rPr>
              <a:t>3 Softmax Architectures Compared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14300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804672"/>
            <a:ext cx="3794760" cy="5760720"/>
          </a:xfrm>
          <a:prstGeom prst="rect">
            <a:avLst/>
          </a:prstGeom>
          <a:solidFill>
            <a:srgbClr val="13273E"/>
          </a:solidFill>
          <a:ln w="19050">
            <a:solidFill>
              <a:srgbClr val="FF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355E"/>
                </a:solidFill>
              </a:rPr>
              <a:t>Version A  (Baseline)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8E0"/>
                </a:solidFill>
              </a:rPr>
              <a:t>Conventional Fixed-Point Detour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09344"/>
            <a:ext cx="3429000" cy="25400"/>
          </a:xfrm>
          <a:prstGeom prst="rect">
            <a:avLst/>
          </a:prstGeom>
          <a:solidFill>
            <a:srgbClr val="FF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3429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0C8E0"/>
                </a:solidFill>
              </a:rPr>
              <a:t>1. Find Max (8 cycles)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2. Descale: z = S - max (8 cycles)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3. Exp LUT: 256-entry ROM (8 cycles)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4. Restoring Divider x8 (192 cycles)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5. Requantize to INT8 (8 cycles)</a:t>
            </a:r>
          </a:p>
          <a:p>
            <a:pPr algn="l"/>
            <a:endParaRPr sz="1250" b="0">
              <a:solidFill>
                <a:srgbClr val="B0C8E0"/>
              </a:solidFill>
            </a:endParaRPr>
          </a:p>
          <a:p>
            <a:pPr algn="l"/>
            <a:r>
              <a:rPr sz="1250" b="0">
                <a:solidFill>
                  <a:srgbClr val="FF355E"/>
                </a:solidFill>
              </a:rPr>
              <a:t>Softmax Cycles:  2,008</a:t>
            </a:r>
          </a:p>
          <a:p>
            <a:pPr algn="l"/>
            <a:r>
              <a:rPr sz="1250" b="0">
                <a:solidFill>
                  <a:srgbClr val="FF355E"/>
                </a:solidFill>
              </a:rPr>
              <a:t>Total Cycles:    5,688</a:t>
            </a:r>
          </a:p>
          <a:p>
            <a:pPr algn="l"/>
            <a:r>
              <a:rPr sz="1250" b="0">
                <a:solidFill>
                  <a:srgbClr val="FF355E"/>
                </a:solidFill>
              </a:rPr>
              <a:t>Latency @50MHz:  113.76 us</a:t>
            </a:r>
          </a:p>
          <a:p>
            <a:pPr algn="l"/>
            <a:endParaRPr sz="1250" b="0">
              <a:solidFill>
                <a:srgbClr val="FF355E"/>
              </a:solidFill>
            </a:endParaRPr>
          </a:p>
          <a:p>
            <a:pPr algn="l"/>
            <a:r>
              <a:rPr sz="1250" b="0">
                <a:solidFill>
                  <a:srgbClr val="B0C8E0"/>
                </a:solidFill>
              </a:rPr>
              <a:t>Resources: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* 256-entry exponential ROM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* Descale + Requant stages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* Extra pipeline overhead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804672"/>
            <a:ext cx="3794760" cy="5760720"/>
          </a:xfrm>
          <a:prstGeom prst="rect">
            <a:avLst/>
          </a:prstGeom>
          <a:solidFill>
            <a:srgbClr val="13273E"/>
          </a:solidFill>
          <a:ln w="1905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07408" y="89611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76"/>
                </a:solidFill>
              </a:rPr>
              <a:t>Tier 0  (Proposed)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26187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8E0"/>
                </a:solidFill>
              </a:rPr>
              <a:t>Integer-Native Base-2 Shift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1609344"/>
            <a:ext cx="3429000" cy="2540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07408" y="1737360"/>
            <a:ext cx="3429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0C8E0"/>
                </a:solidFill>
              </a:rPr>
              <a:t>1. Find Max (8 cycles)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2. Shift amount: t = (-z) x 23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3. Barrel shift: w = 32768 &gt;&gt; t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   (No Exp ROM needed!)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4. Restoring Divider x8 (192 cycles)</a:t>
            </a:r>
          </a:p>
          <a:p>
            <a:pPr algn="l"/>
            <a:endParaRPr sz="1250" b="0">
              <a:solidFill>
                <a:srgbClr val="B0C8E0"/>
              </a:solidFill>
            </a:endParaRPr>
          </a:p>
          <a:p>
            <a:pPr algn="l"/>
            <a:r>
              <a:rPr sz="1250" b="0">
                <a:solidFill>
                  <a:srgbClr val="00E576"/>
                </a:solidFill>
              </a:rPr>
              <a:t>Softmax Cycles:  1,880</a:t>
            </a:r>
          </a:p>
          <a:p>
            <a:pPr algn="l"/>
            <a:r>
              <a:rPr sz="1250" b="0">
                <a:solidFill>
                  <a:srgbClr val="00E576"/>
                </a:solidFill>
              </a:rPr>
              <a:t>Total Cycles:    5,560</a:t>
            </a:r>
          </a:p>
          <a:p>
            <a:pPr algn="l"/>
            <a:r>
              <a:rPr sz="1250" b="0">
                <a:solidFill>
                  <a:srgbClr val="00E576"/>
                </a:solidFill>
              </a:rPr>
              <a:t>Latency @50MHz:  111.20 us</a:t>
            </a:r>
          </a:p>
          <a:p>
            <a:pPr algn="l"/>
            <a:endParaRPr sz="1250" b="0">
              <a:solidFill>
                <a:srgbClr val="00E576"/>
              </a:solidFill>
            </a:endParaRPr>
          </a:p>
          <a:p>
            <a:pPr algn="l"/>
            <a:r>
              <a:rPr sz="1250" b="0">
                <a:solidFill>
                  <a:srgbClr val="B0C8E0"/>
                </a:solidFill>
              </a:rPr>
              <a:t>Resources: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* ZERO exponential ROM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* ZERO descale / requant stages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* Pure barrel shifter logic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804672"/>
            <a:ext cx="3749039" cy="5760720"/>
          </a:xfrm>
          <a:prstGeom prst="rect">
            <a:avLst/>
          </a:prstGeom>
          <a:solidFill>
            <a:srgbClr val="1327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8961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Tier 1  (Proposed)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2618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8E0"/>
                </a:solidFill>
              </a:rPr>
              <a:t>Base-2 Shift + 16-Entry LUT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609344"/>
            <a:ext cx="338328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73736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0C8E0"/>
                </a:solidFill>
              </a:rPr>
              <a:t>1. Find Max (8 cycles)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2. Q4.4 decompose: q = t&gt;&gt;4, f = t&amp;F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3. LUT[f]: reads 16-entry frac table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   w = LUT[f] &gt;&gt; q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4. Restoring Divider x8 (192 cycles)</a:t>
            </a:r>
          </a:p>
          <a:p>
            <a:pPr algn="l"/>
            <a:endParaRPr sz="1250" b="0">
              <a:solidFill>
                <a:srgbClr val="B0C8E0"/>
              </a:solidFill>
            </a:endParaRPr>
          </a:p>
          <a:p>
            <a:pPr algn="l"/>
            <a:r>
              <a:rPr sz="1250" b="0">
                <a:solidFill>
                  <a:srgbClr val="00D4FF"/>
                </a:solidFill>
              </a:rPr>
              <a:t>Softmax Cycles:  1,880</a:t>
            </a:r>
          </a:p>
          <a:p>
            <a:pPr algn="l"/>
            <a:r>
              <a:rPr sz="1250" b="0">
                <a:solidFill>
                  <a:srgbClr val="00D4FF"/>
                </a:solidFill>
              </a:rPr>
              <a:t>Total Cycles:    5,560</a:t>
            </a:r>
          </a:p>
          <a:p>
            <a:pPr algn="l"/>
            <a:r>
              <a:rPr sz="1250" b="0">
                <a:solidFill>
                  <a:srgbClr val="00D4FF"/>
                </a:solidFill>
              </a:rPr>
              <a:t>Latency @50MHz:  111.20 us</a:t>
            </a:r>
          </a:p>
          <a:p>
            <a:pPr algn="l"/>
            <a:endParaRPr sz="1250" b="0">
              <a:solidFill>
                <a:srgbClr val="00D4FF"/>
              </a:solidFill>
            </a:endParaRPr>
          </a:p>
          <a:p>
            <a:pPr algn="l"/>
            <a:r>
              <a:rPr sz="1250" b="0">
                <a:solidFill>
                  <a:srgbClr val="B0C8E0"/>
                </a:solidFill>
              </a:rPr>
              <a:t>Resources: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* Only 16-word fractional LUT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* No descale / requant stages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* Highest numerical precision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</a:rPr>
              <a:t>Simulation Results — ModelSim 10.5b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14300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804672"/>
            <a:ext cx="11640312" cy="914400"/>
          </a:xfrm>
          <a:prstGeom prst="rect">
            <a:avLst/>
          </a:prstGeom>
          <a:solidFill>
            <a:srgbClr val="003018"/>
          </a:solidFill>
          <a:ln w="254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4183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76"/>
                </a:solidFill>
              </a:rPr>
              <a:t>18 / 18 Tests PASSED   |   0 Errors   |   0 Warnings   |   100%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74519"/>
            <a:ext cx="11640312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920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Softmax Cycles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920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Total Cycles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920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Latency @50MHz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920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Cycle Saving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58568"/>
            <a:ext cx="11640312" cy="457200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331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Version A (Baseline)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331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2,008 cycles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331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5,688 cycles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331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113.76 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331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--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734056"/>
            <a:ext cx="11640312" cy="457200"/>
          </a:xfrm>
          <a:prstGeom prst="rect">
            <a:avLst/>
          </a:prstGeom>
          <a:solidFill>
            <a:srgbClr val="0A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28072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E576"/>
                </a:solidFill>
              </a:rPr>
              <a:t>Tier 0 -- Shift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8072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E576"/>
                </a:solidFill>
              </a:rPr>
              <a:t>1,880 cycles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8072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E576"/>
                </a:solidFill>
              </a:rPr>
              <a:t>5,560 cycles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8072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E576"/>
                </a:solidFill>
              </a:rPr>
              <a:t>111.20 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8072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E576"/>
                </a:solidFill>
              </a:rPr>
              <a:t>-128 cycles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209544"/>
            <a:ext cx="11640312" cy="457200"/>
          </a:xfrm>
          <a:prstGeom prst="rect">
            <a:avLst/>
          </a:prstGeom>
          <a:solidFill>
            <a:srgbClr val="0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32826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D4FF"/>
                </a:solidFill>
              </a:rPr>
              <a:t>Tier 1 -- 16-LUT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32826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D4FF"/>
                </a:solidFill>
              </a:rPr>
              <a:t>1,880 cycles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2826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D4FF"/>
                </a:solidFill>
              </a:rPr>
              <a:t>5,560 cycles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2826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D4FF"/>
                </a:solidFill>
              </a:rPr>
              <a:t>111.20 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32826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D4FF"/>
                </a:solidFill>
              </a:rPr>
              <a:t>-128 cycles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3794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E030"/>
                </a:solidFill>
              </a:rPr>
              <a:t>Numerical Accuracy vs FP64 Baseline (1,000 synthetic vectors)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160520"/>
            <a:ext cx="11640312" cy="25400"/>
          </a:xfrm>
          <a:prstGeom prst="rect">
            <a:avLst/>
          </a:prstGeom>
          <a:solidFill>
            <a:srgbClr val="FFE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4206240"/>
            <a:ext cx="11640312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Variant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Mean Abs Error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Max Error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KL Divergence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Rank Inversions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572000"/>
            <a:ext cx="11640312" cy="438912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46451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Version 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46451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0.100967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46451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0.401563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46451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0.532291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46451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0.00%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029200"/>
            <a:ext cx="11640312" cy="438912"/>
          </a:xfrm>
          <a:prstGeom prst="rect">
            <a:avLst/>
          </a:prstGeom>
          <a:solidFill>
            <a:srgbClr val="0A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" y="51023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E576"/>
                </a:solidFill>
              </a:rPr>
              <a:t>Tier 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0320" y="51023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E576"/>
                </a:solidFill>
              </a:rPr>
              <a:t>0.002312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51023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E576"/>
                </a:solidFill>
              </a:rPr>
              <a:t>0.009236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51023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E576"/>
                </a:solidFill>
              </a:rPr>
              <a:t>0.016769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51023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E576"/>
                </a:solidFill>
              </a:rPr>
              <a:t>0.00%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486400"/>
            <a:ext cx="11640312" cy="438912"/>
          </a:xfrm>
          <a:prstGeom prst="rect">
            <a:avLst/>
          </a:prstGeom>
          <a:solidFill>
            <a:srgbClr val="08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60" y="55595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D4FF"/>
                </a:solidFill>
              </a:rPr>
              <a:t>Tier 1 (*)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60320" y="55595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D4FF"/>
                </a:solidFill>
              </a:rPr>
              <a:t>0.000246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0" y="55595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D4FF"/>
                </a:solidFill>
              </a:rPr>
              <a:t>0.000979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79" y="55595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D4FF"/>
                </a:solidFill>
              </a:rPr>
              <a:t>0.014876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0" y="55595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D4FF"/>
                </a:solidFill>
              </a:rPr>
              <a:t>0.00%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E030"/>
                </a:solidFill>
              </a:rPr>
              <a:t>(*) Tier 1 = 400x lower error than Version A  |  10x lower than Tier 0  |  Same latency as Tier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</a:rPr>
              <a:t>Live FPGA Demo — DE2-115 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14300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804672"/>
            <a:ext cx="6858000" cy="5806440"/>
          </a:xfrm>
          <a:prstGeom prst="rect">
            <a:avLst/>
          </a:prstGeom>
          <a:solidFill>
            <a:srgbClr val="1327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Switch Settings &amp; Expected Outputs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64922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Sentence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371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SW4 SW3 SW2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6220" y="13624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HEX2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39745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HEX0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763" y="1371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LEDR[4:0]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673352"/>
            <a:ext cx="6492240" cy="621792"/>
          </a:xfrm>
          <a:prstGeom prst="rect">
            <a:avLst/>
          </a:prstGeom>
          <a:solidFill>
            <a:srgbClr val="0A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81051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E576"/>
                </a:solidFill>
              </a:rPr>
              <a:t>Turn on 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810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E576"/>
                </a:solidFill>
              </a:rPr>
              <a:t>D   D  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1051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E576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181051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E576"/>
                </a:solidFill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8105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00E576"/>
                </a:solidFill>
              </a:rPr>
              <a:t>00000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331720"/>
            <a:ext cx="6492240" cy="621792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468879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Turn off lights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46887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D   D   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46887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246887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46887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00100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990088"/>
            <a:ext cx="6492240" cy="621792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312724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Increase volume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1272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D   U   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1272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31272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12724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01000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648456"/>
            <a:ext cx="6492240" cy="621792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785616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Decrease volume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378561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D   U   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78561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378561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378561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01100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306824"/>
            <a:ext cx="6492240" cy="621792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4443984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Turn on heat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444398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U   D   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44398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444398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444398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10000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965192"/>
            <a:ext cx="6492240" cy="621792"/>
          </a:xfrm>
          <a:prstGeom prst="rect">
            <a:avLst/>
          </a:prstGeom>
          <a:solidFill>
            <a:srgbClr val="13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510235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Turn off heat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51023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U   D   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51023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80" y="51023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510235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B0C8E0"/>
                </a:solidFill>
              </a:rPr>
              <a:t>10100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5779008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E030"/>
                </a:solidFill>
              </a:rPr>
              <a:t>U=Up, D=Down    HEX0 must always equal HEX2  ==&gt;  100% classification accuracy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804672"/>
            <a:ext cx="4663440" cy="2560320"/>
          </a:xfrm>
          <a:prstGeom prst="rect">
            <a:avLst/>
          </a:prstGeom>
          <a:solidFill>
            <a:srgbClr val="13273E"/>
          </a:solidFill>
          <a:ln w="1270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98079" y="89611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76"/>
                </a:solidFill>
              </a:rPr>
              <a:t>Green LED Status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132588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0C8E0"/>
                </a:solidFill>
              </a:rPr>
              <a:t>LEDG[0]  Engine BUSY (brief flicker ~111us)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LEDG[1]  DONE -- stays ON after inference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LEDG[2]  Heartbeat -- blinks 1.5x per sec</a:t>
            </a:r>
          </a:p>
          <a:p>
            <a:pPr algn="l"/>
            <a:r>
              <a:rPr sz="1250" b="0">
                <a:solidFill>
                  <a:srgbClr val="B0C8E0"/>
                </a:solidFill>
              </a:rPr>
              <a:t>         Proves bitstream is running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0" y="3547872"/>
            <a:ext cx="4663440" cy="3063240"/>
          </a:xfrm>
          <a:prstGeom prst="rect">
            <a:avLst/>
          </a:prstGeom>
          <a:solidFill>
            <a:srgbClr val="13273E"/>
          </a:solidFill>
          <a:ln w="12700">
            <a:solidFill>
              <a:srgbClr val="FF7F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98079" y="363931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11"/>
                </a:solidFill>
              </a:rPr>
              <a:t>Cycle Count Demo (Research Proof)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79" y="406908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E0"/>
                </a:solidFill>
              </a:rPr>
              <a:t>Fix sentence 0 (all SW4:2=DOWN), then:</a:t>
            </a:r>
          </a:p>
          <a:p>
            <a:pPr algn="l"/>
            <a:endParaRPr sz="1200" b="0">
              <a:solidFill>
                <a:srgbClr val="B0C8E0"/>
              </a:solidFill>
            </a:endParaRPr>
          </a:p>
          <a:p>
            <a:pPr algn="l"/>
            <a:r>
              <a:rPr sz="1200" b="0">
                <a:solidFill>
                  <a:srgbClr val="00E576"/>
                </a:solidFill>
              </a:rPr>
              <a:t>SW1=D SW0=D -&gt; HEX1='0' Tier 0</a:t>
            </a:r>
          </a:p>
          <a:p>
            <a:pPr algn="l"/>
            <a:r>
              <a:rPr sz="1200" b="0">
                <a:solidFill>
                  <a:srgbClr val="00E576"/>
                </a:solidFill>
              </a:rPr>
              <a:t>  HEX7-4 shows: 1 5 b 8 (5560 cycles)</a:t>
            </a:r>
          </a:p>
          <a:p>
            <a:pPr algn="l"/>
            <a:endParaRPr sz="1200" b="0">
              <a:solidFill>
                <a:srgbClr val="00E576"/>
              </a:solidFill>
            </a:endParaRPr>
          </a:p>
          <a:p>
            <a:pPr algn="l"/>
            <a:r>
              <a:rPr sz="1200" b="0">
                <a:solidFill>
                  <a:srgbClr val="00D4FF"/>
                </a:solidFill>
              </a:rPr>
              <a:t>SW1=D SW0=U -&gt; HEX1='1' Tier 1</a:t>
            </a:r>
          </a:p>
          <a:p>
            <a:pPr algn="l"/>
            <a:r>
              <a:rPr sz="1200" b="0">
                <a:solidFill>
                  <a:srgbClr val="00D4FF"/>
                </a:solidFill>
              </a:rPr>
              <a:t>  HEX7-4 shows: 1 5 b 8 (5560 cycles)</a:t>
            </a:r>
          </a:p>
          <a:p>
            <a:pPr algn="l"/>
            <a:endParaRPr sz="1200" b="0">
              <a:solidFill>
                <a:srgbClr val="00D4FF"/>
              </a:solidFill>
            </a:endParaRPr>
          </a:p>
          <a:p>
            <a:pPr algn="l"/>
            <a:r>
              <a:rPr sz="1200" b="0">
                <a:solidFill>
                  <a:srgbClr val="FF355E"/>
                </a:solidFill>
              </a:rPr>
              <a:t>SW1=U SW0=D -&gt; HEX1='A' Version A</a:t>
            </a:r>
          </a:p>
          <a:p>
            <a:pPr algn="l"/>
            <a:r>
              <a:rPr sz="1200" b="0">
                <a:solidFill>
                  <a:srgbClr val="FF355E"/>
                </a:solidFill>
              </a:rPr>
              <a:t>  HEX7-4 shows: 1 6 3 8 (5688 cycles)</a:t>
            </a:r>
          </a:p>
          <a:p>
            <a:pPr algn="l"/>
            <a:endParaRPr sz="1200" b="0">
              <a:solidFill>
                <a:srgbClr val="FF355E"/>
              </a:solidFill>
            </a:endParaRPr>
          </a:p>
          <a:p>
            <a:pPr algn="l"/>
            <a:r>
              <a:rPr sz="1200" b="0">
                <a:solidFill>
                  <a:srgbClr val="FF7F11"/>
                </a:solidFill>
              </a:rPr>
              <a:t>  LIVE PROOF: 128 more cycles on Ver.A!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</a:rPr>
              <a:t>Key Findings &amp; Research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14300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841248"/>
            <a:ext cx="3749039" cy="2743200"/>
          </a:xfrm>
          <a:prstGeom prst="rect">
            <a:avLst/>
          </a:prstGeom>
          <a:solidFill>
            <a:srgbClr val="13273E"/>
          </a:solidFill>
          <a:ln w="1905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841248"/>
            <a:ext cx="411480" cy="41148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896112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76"/>
                </a:solidFill>
              </a:rPr>
              <a:t>128-Cycle Softmax Speedup on Silicon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298448"/>
            <a:ext cx="3529584" cy="25400"/>
          </a:xfrm>
          <a:prstGeom prst="rect">
            <a:avLst/>
          </a:prstGeom>
          <a:solidFill>
            <a:srgbClr val="00E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408176"/>
            <a:ext cx="352958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E0"/>
                </a:solidFill>
              </a:rPr>
              <a:t>Integer-native Tier 0 &amp; Tier 1 each save 128 clock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cycles per inference vs conventional Version A.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Proven LIVE on DE2-115 7-seg cycle counter.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841248"/>
            <a:ext cx="3749039" cy="2743200"/>
          </a:xfrm>
          <a:prstGeom prst="rect">
            <a:avLst/>
          </a:prstGeom>
          <a:solidFill>
            <a:srgbClr val="1327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59" y="841248"/>
            <a:ext cx="41148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79" y="8686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896112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Zero Exponential ROM in Tier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1688" y="1298448"/>
            <a:ext cx="3529584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61688" y="1408176"/>
            <a:ext cx="352958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E0"/>
                </a:solidFill>
              </a:rPr>
              <a:t>Tier 0 eliminates the 256-entry exponential LUT.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A pure arithmetic barrel shift replaces the ROM.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Math: e^z ~= 2^(z x log2(e)) -- no table needed.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841248"/>
            <a:ext cx="3749039" cy="2743200"/>
          </a:xfrm>
          <a:prstGeom prst="rect">
            <a:avLst/>
          </a:prstGeom>
          <a:solidFill>
            <a:srgbClr val="13273E"/>
          </a:solidFill>
          <a:ln w="19050">
            <a:solidFill>
              <a:srgbClr val="FFE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841248"/>
            <a:ext cx="411480" cy="411480"/>
          </a:xfrm>
          <a:prstGeom prst="rect">
            <a:avLst/>
          </a:prstGeom>
          <a:solidFill>
            <a:srgbClr val="FFE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8686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896112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E030"/>
                </a:solidFill>
              </a:rPr>
              <a:t>Tier 1: 400x Higher Precision Than Ver.A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7" y="1298448"/>
            <a:ext cx="3529584" cy="25400"/>
          </a:xfrm>
          <a:prstGeom prst="rect">
            <a:avLst/>
          </a:prstGeom>
          <a:solidFill>
            <a:srgbClr val="FFE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9327" y="1408176"/>
            <a:ext cx="352958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E0"/>
                </a:solidFill>
              </a:rPr>
              <a:t>16-entry fractional LUT adds sub-shift correction.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MAE = 0.000246 vs Version A MAE = 0.100967.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Same 1,880-cycle latency as Tier 0 -- free precision.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767328"/>
            <a:ext cx="3749039" cy="2743200"/>
          </a:xfrm>
          <a:prstGeom prst="rect">
            <a:avLst/>
          </a:prstGeom>
          <a:solidFill>
            <a:srgbClr val="13273E"/>
          </a:solidFill>
          <a:ln w="19050">
            <a:solidFill>
              <a:srgbClr val="FF7F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3767328"/>
            <a:ext cx="411480" cy="411480"/>
          </a:xfrm>
          <a:prstGeom prst="rect">
            <a:avLst/>
          </a:prstGeom>
          <a:solidFill>
            <a:srgbClr val="FF7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822191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11"/>
                </a:solidFill>
              </a:rPr>
              <a:t>100% Accuracy Across All 6 Intents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4224528"/>
            <a:ext cx="3529584" cy="25400"/>
          </a:xfrm>
          <a:prstGeom prst="rect">
            <a:avLst/>
          </a:prstGeom>
          <a:solidFill>
            <a:srgbClr val="FF7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" y="4334256"/>
            <a:ext cx="352958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E0"/>
                </a:solidFill>
              </a:rPr>
              <a:t>18/18 ModelSim tests passed across all 3 variants.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All 6 smart home commands classified correctly: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lights, volume, and heat on/off.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3767328"/>
            <a:ext cx="3749039" cy="2743200"/>
          </a:xfrm>
          <a:prstGeom prst="rect">
            <a:avLst/>
          </a:prstGeom>
          <a:solidFill>
            <a:srgbClr val="1327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51959" y="3767328"/>
            <a:ext cx="4114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97679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79" y="3822191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Pure Verilog-2001 -- Synthesis Ready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61688" y="4224528"/>
            <a:ext cx="3529584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61688" y="4334256"/>
            <a:ext cx="352958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8E0"/>
                </a:solidFill>
              </a:rPr>
              <a:t>Full codebase in Verilog-2001 (no SystemVerilog).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Weights baked into ROMs -- no external .hex needed.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Compiles cleanly in Quartus Prime 18.1: 0 errors.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58368"/>
            <a:ext cx="114300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804672"/>
            <a:ext cx="11640312" cy="1051560"/>
          </a:xfrm>
          <a:prstGeom prst="rect">
            <a:avLst/>
          </a:prstGeom>
          <a:solidFill>
            <a:srgbClr val="082518"/>
          </a:solidFill>
          <a:ln w="1905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877824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00E576"/>
                </a:solidFill>
              </a:rPr>
              <a:t>"Integer-native Softmax eliminates the fixed-point detour, saving 128 cycles per inference
on a Cyclone IV FPGA while preserving 100% classification accuracy."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11680"/>
            <a:ext cx="7498079" cy="4434840"/>
          </a:xfrm>
          <a:prstGeom prst="rect">
            <a:avLst/>
          </a:prstGeom>
          <a:solidFill>
            <a:srgbClr val="1327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What We Achieved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42032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0C8E0"/>
                </a:solidFill>
              </a:rPr>
              <a:t>[OK]  3 Softmax architectures in pure Verilog-2001</a:t>
            </a:r>
          </a:p>
          <a:p>
            <a:pPr algn="l"/>
            <a:r>
              <a:rPr sz="1350" b="0">
                <a:solidFill>
                  <a:srgbClr val="B0C8E0"/>
                </a:solidFill>
              </a:rPr>
              <a:t>[OK]  INT8 pipeline: Embed -&gt; QKV -&gt; Attn -&gt; Pool -&gt; Classify</a:t>
            </a:r>
          </a:p>
          <a:p>
            <a:pPr algn="l"/>
            <a:r>
              <a:rPr sz="1350" b="0">
                <a:solidFill>
                  <a:srgbClr val="B0C8E0"/>
                </a:solidFill>
              </a:rPr>
              <a:t>[OK]  18/18 end-to-end tests passed in ModelSim</a:t>
            </a:r>
          </a:p>
          <a:p>
            <a:pPr algn="l"/>
            <a:r>
              <a:rPr sz="1350" b="0">
                <a:solidFill>
                  <a:srgbClr val="B0C8E0"/>
                </a:solidFill>
              </a:rPr>
              <a:t>[OK]  128-cycle savings proven (Tier 0 &amp; 1 vs Version A)</a:t>
            </a:r>
          </a:p>
          <a:p>
            <a:pPr algn="l"/>
            <a:r>
              <a:rPr sz="1350" b="0">
                <a:solidFill>
                  <a:srgbClr val="B0C8E0"/>
                </a:solidFill>
              </a:rPr>
              <a:t>[OK]  Tier 1: 400x lower numerical error than Version A</a:t>
            </a:r>
          </a:p>
          <a:p>
            <a:pPr algn="l"/>
            <a:r>
              <a:rPr sz="1350" b="0">
                <a:solidFill>
                  <a:srgbClr val="B0C8E0"/>
                </a:solidFill>
              </a:rPr>
              <a:t>[OK]  Weights baked in -- no external file dependency</a:t>
            </a:r>
          </a:p>
          <a:p>
            <a:pPr algn="l"/>
            <a:r>
              <a:rPr sz="1350" b="0">
                <a:solidFill>
                  <a:srgbClr val="B0C8E0"/>
                </a:solidFill>
              </a:rPr>
              <a:t>[OK]  Deployed on Terasic DE2-115 at 50 MHz</a:t>
            </a:r>
          </a:p>
          <a:p>
            <a:pPr algn="l"/>
            <a:r>
              <a:rPr sz="1350" b="0">
                <a:solidFill>
                  <a:srgbClr val="B0C8E0"/>
                </a:solidFill>
              </a:rPr>
              <a:t>[OK]  6 smart home intent classes classified correctly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2011680"/>
            <a:ext cx="3931920" cy="4434840"/>
          </a:xfrm>
          <a:prstGeom prst="rect">
            <a:avLst/>
          </a:prstGeom>
          <a:solidFill>
            <a:srgbClr val="13273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21031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Project Info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542032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D4FF"/>
                </a:solidFill>
              </a:rPr>
              <a:t>Hardware: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  Cyclone IV EP4CE115F29C7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  Terasic DE2-115 Board</a:t>
            </a:r>
          </a:p>
          <a:p>
            <a:pPr algn="l"/>
            <a:endParaRPr sz="1200" b="0">
              <a:solidFill>
                <a:srgbClr val="B0C8E0"/>
              </a:solidFill>
            </a:endParaRPr>
          </a:p>
          <a:p>
            <a:pPr algn="l"/>
            <a:r>
              <a:rPr sz="1200" b="0">
                <a:solidFill>
                  <a:srgbClr val="00D4FF"/>
                </a:solidFill>
              </a:rPr>
              <a:t>Language:  Pure Verilog-2001</a:t>
            </a:r>
          </a:p>
          <a:p>
            <a:pPr algn="l"/>
            <a:endParaRPr sz="1200" b="0">
              <a:solidFill>
                <a:srgbClr val="00D4FF"/>
              </a:solidFill>
            </a:endParaRPr>
          </a:p>
          <a:p>
            <a:pPr algn="l"/>
            <a:r>
              <a:rPr sz="1200" b="0">
                <a:solidFill>
                  <a:srgbClr val="B0C8E0"/>
                </a:solidFill>
              </a:rPr>
              <a:t>Simulation:  ModelSim ASE 10.5b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Synthesis:   Quartus Prime 18.1</a:t>
            </a:r>
          </a:p>
          <a:p>
            <a:pPr algn="l"/>
            <a:endParaRPr sz="1200" b="0">
              <a:solidFill>
                <a:srgbClr val="B0C8E0"/>
              </a:solidFill>
            </a:endParaRPr>
          </a:p>
          <a:p>
            <a:pPr algn="l"/>
            <a:r>
              <a:rPr sz="1200" b="0">
                <a:solidFill>
                  <a:srgbClr val="7C3AED"/>
                </a:solidFill>
              </a:rPr>
              <a:t>Repository: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  github.com/Shailesh-A-hub/</a:t>
            </a:r>
          </a:p>
          <a:p>
            <a:pPr algn="l"/>
            <a:r>
              <a:rPr sz="1200" b="0">
                <a:solidFill>
                  <a:srgbClr val="B0C8E0"/>
                </a:solidFill>
              </a:rPr>
              <a:t>  int8-transformer-de2-115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649224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E030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</a:rPr>
              <a:t>Quick Reference — Board Demo 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14300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11640312" cy="3794760"/>
          </a:xfrm>
          <a:prstGeom prst="rect">
            <a:avLst/>
          </a:prstGeom>
          <a:solidFill>
            <a:srgbClr val="0F1E2E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11640312" cy="475488"/>
          </a:xfrm>
          <a:prstGeom prst="rect">
            <a:avLst/>
          </a:prstGeom>
          <a:solidFill>
            <a:srgbClr val="1A3A5C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914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591" y="914400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SW4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914400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SW3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95344" y="914400"/>
            <a:ext cx="658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SW2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914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Red LEDs (LEDR4-0)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9144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HEX2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914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HEX0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39" y="822960"/>
            <a:ext cx="19050" cy="3794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08960" y="822960"/>
            <a:ext cx="19050" cy="3794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22191" y="822960"/>
            <a:ext cx="19050" cy="3794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0" y="822960"/>
            <a:ext cx="19050" cy="3794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17536" y="822960"/>
            <a:ext cx="19050" cy="3794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87968" y="822960"/>
            <a:ext cx="19050" cy="3794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948672" y="822960"/>
            <a:ext cx="19050" cy="3794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1298448"/>
            <a:ext cx="11640312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1298448"/>
            <a:ext cx="11640312" cy="539496"/>
          </a:xfrm>
          <a:prstGeom prst="rect">
            <a:avLst/>
          </a:prstGeom>
          <a:solidFill>
            <a:srgbClr val="0A2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1837943"/>
            <a:ext cx="11640312" cy="2540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" y="141731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576"/>
                </a:solidFill>
              </a:rPr>
              <a:t>Lights 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50591" y="1417319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355E"/>
                </a:solidFill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2112" y="1417319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355E"/>
                </a:solidFill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95344" y="1417319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355E"/>
                </a:solidFill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1417319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0C8E0"/>
                </a:solidFill>
              </a:rPr>
              <a:t>OFF  OFF  OFF  OFF  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141731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E030"/>
                </a:solidFill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1417319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576"/>
                </a:solidFill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1837943"/>
            <a:ext cx="11640312" cy="539496"/>
          </a:xfrm>
          <a:prstGeom prst="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" y="2377439"/>
            <a:ext cx="11640312" cy="2540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7472" y="1956815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E0"/>
                </a:solidFill>
              </a:rPr>
              <a:t>Lights 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50591" y="1956815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355E"/>
                </a:solidFill>
              </a:rPr>
              <a:t>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82112" y="1956815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355E"/>
                </a:solidFill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95344" y="1956815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</a:rPr>
              <a:t>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5152" y="1956815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E0"/>
                </a:solidFill>
              </a:rPr>
              <a:t>OFF  OFF  ON   OFF  OFF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90688" y="1956815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030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1956815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030"/>
                </a:solidFill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377439"/>
            <a:ext cx="11640312" cy="539496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74320" y="2916935"/>
            <a:ext cx="11640312" cy="2540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7472" y="249631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E0"/>
                </a:solidFill>
              </a:rPr>
              <a:t>Vol UP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50591" y="2496311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355E"/>
                </a:solidFill>
              </a:rPr>
              <a:t>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82112" y="2496311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</a:rPr>
              <a:t>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95344" y="2496311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355E"/>
                </a:solidFill>
              </a:rPr>
              <a:t>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45152" y="2496311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E0"/>
                </a:solidFill>
              </a:rPr>
              <a:t>OFF  ON   OFF  OFF  OFF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90688" y="2496311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030"/>
                </a:solidFill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2496311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030"/>
                </a:solidFill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916936"/>
            <a:ext cx="11640312" cy="539496"/>
          </a:xfrm>
          <a:prstGeom prst="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74320" y="3456432"/>
            <a:ext cx="11640312" cy="2540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47472" y="30358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E0"/>
                </a:solidFill>
              </a:rPr>
              <a:t>Vol DOWN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50591" y="3035808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355E"/>
                </a:solidFill>
              </a:rPr>
              <a:t>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82112" y="3035808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</a:rPr>
              <a:t>↑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95344" y="3035808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</a:rPr>
              <a:t>↑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45152" y="303580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E0"/>
                </a:solidFill>
              </a:rPr>
              <a:t>OFF  ON   ON   OFF  OFF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90688" y="30358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030"/>
                </a:solidFill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20" y="30358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030"/>
                </a:solidFill>
              </a:rPr>
              <a:t>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3456432"/>
            <a:ext cx="11640312" cy="539496"/>
          </a:xfrm>
          <a:prstGeom prst="rect">
            <a:avLst/>
          </a:prstGeom>
          <a:solidFill>
            <a:srgbClr val="0F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74320" y="3995928"/>
            <a:ext cx="11640312" cy="2540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47472" y="3575303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E0"/>
                </a:solidFill>
              </a:rPr>
              <a:t>Heat 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50591" y="3575303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</a:rPr>
              <a:t>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82112" y="3575303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355E"/>
                </a:solidFill>
              </a:rPr>
              <a:t>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95344" y="3575303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355E"/>
                </a:solidFill>
              </a:rPr>
              <a:t>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45152" y="3575303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E0"/>
                </a:solidFill>
              </a:rPr>
              <a:t>ON   OFF  OFF  OFF  OFF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90688" y="3575303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030"/>
                </a:solidFill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1120" y="3575303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030"/>
                </a:solidFill>
              </a:rPr>
              <a:t>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3995927"/>
            <a:ext cx="11640312" cy="539496"/>
          </a:xfrm>
          <a:prstGeom prst="rect">
            <a:avLst/>
          </a:prstGeom>
          <a:solidFill>
            <a:srgbClr val="11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274320" y="4535423"/>
            <a:ext cx="11640312" cy="2540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47472" y="411479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E0"/>
                </a:solidFill>
              </a:rPr>
              <a:t>Heat OFF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50591" y="4114799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</a:rPr>
              <a:t>↑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82112" y="4114799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355E"/>
                </a:solidFill>
              </a:rPr>
              <a:t>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95344" y="4114799"/>
            <a:ext cx="658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E576"/>
                </a:solidFill>
              </a:rPr>
              <a:t>↑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45152" y="4114799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E0"/>
                </a:solidFill>
              </a:rPr>
              <a:t>ON   OFF  ON   OFF  OFF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90688" y="411479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030"/>
                </a:solidFill>
              </a:rPr>
              <a:t>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61120" y="4114799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030"/>
                </a:solidFill>
              </a:rPr>
              <a:t>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4754880"/>
            <a:ext cx="11640312" cy="1051560"/>
          </a:xfrm>
          <a:prstGeom prst="rect">
            <a:avLst/>
          </a:prstGeom>
          <a:solidFill>
            <a:srgbClr val="0D1E35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274320" y="4754880"/>
            <a:ext cx="11640312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02920" y="482803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76"/>
                </a:solidFill>
              </a:rPr>
              <a:t>MODE switches  -&gt;  SW1=↓  SW0=↓   -&gt;   HEX1 = 0,  cycles = 15b8  (Tier 0)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" y="5129784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</a:rPr>
              <a:t>               -&gt;  SW1=↓  SW0=↑   -&gt;   HEX1 = 1,  cycles = 15b8  (Tier 1)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2920" y="5431536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355E"/>
                </a:solidFill>
              </a:rPr>
              <a:t>               -&gt;  SW1=↑  SW0=↓   -&gt;   HEX1 = A,  cycles = 1638  (Version A)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" y="5897880"/>
            <a:ext cx="11640312" cy="566928"/>
          </a:xfrm>
          <a:prstGeom prst="rect">
            <a:avLst/>
          </a:prstGeom>
          <a:solidFill>
            <a:srgbClr val="102210"/>
          </a:solidFill>
          <a:ln w="15240">
            <a:solidFill>
              <a:srgbClr val="00E5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57200" y="59893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00E576"/>
                </a:solidFill>
              </a:rPr>
              <a:t>LEDG0 = blink briefly (BUSY)          LEDG1 = stays ON (DONE)          LEDG2 = heartbeat (always blinks 1.5 Hz)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4320" y="655624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FFE030"/>
                </a:solidFill>
              </a:rPr>
              <a:t>KEY[0] = Reset board     |     KEY[1] = Manually re-trigger inference     |     HEX0 must always equal HEX2 =&gt; 100% accuracy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D4FF"/>
                </a:solidFill>
              </a:rPr>
              <a:t>Performance Comparison: Tier 0 vs Version 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14300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49808"/>
            <a:ext cx="10972800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59FD4E-7CFB-C6C8-8C91-093A62BC1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79" y="-110359"/>
            <a:ext cx="12133646" cy="696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916494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825" cy="73152"/>
          </a:xfrm>
          <a:prstGeom prst="rect">
            <a:avLst/>
          </a:prstGeom>
          <a:solidFill>
            <a:srgbClr val="00D4B2"/>
          </a:solidFill>
          <a:ln>
            <a:solidFill>
              <a:srgbClr val="00D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Future Scope &amp; Research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960120"/>
            <a:ext cx="5486400" cy="2468880"/>
          </a:xfrm>
          <a:prstGeom prst="roundRect">
            <a:avLst/>
          </a:prstGeom>
          <a:solidFill>
            <a:srgbClr val="131D32"/>
          </a:solidFill>
          <a:ln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411480" cy="411480"/>
          </a:xfrm>
          <a:prstGeom prst="roundRect">
            <a:avLst/>
          </a:prstGeom>
          <a:solidFill>
            <a:srgbClr val="00D4B2"/>
          </a:solidFill>
          <a:ln>
            <a:solidFill>
              <a:srgbClr val="00D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120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124712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On-Chip Voice Frontend (WM8731)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[&gt;]  Direct I2S / I2C interface to DE2-115 Wolfson WM8731 audio CODEC.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[&gt;]  Hardware MFCC / Mel-Spectrogram pipeline directly in Verilog.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[&gt;]  Enables 100% autonomous, hostless hardware voice assistant (no PC needed).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960120"/>
            <a:ext cx="5486400" cy="2468880"/>
          </a:xfrm>
          <a:prstGeom prst="roundRect">
            <a:avLst/>
          </a:prstGeom>
          <a:solidFill>
            <a:srgbClr val="131D32"/>
          </a:solidFill>
          <a:ln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1143000"/>
            <a:ext cx="411480" cy="411480"/>
          </a:xfrm>
          <a:prstGeom prst="roundRect">
            <a:avLst/>
          </a:prstGeom>
          <a:solidFill>
            <a:srgbClr val="00D4B2"/>
          </a:solidFill>
          <a:ln>
            <a:solidFill>
              <a:srgbClr val="00D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120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124712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Multi-Head Self-Attention (MHSA)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645920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[&gt;]  Scale from single-head (H=1) to 4-head / 8-head parallel attention engines.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[&gt;]  Pipeline multi-layer encoder blocks using onboard 2 MB IS61WV SRAM.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[&gt;]  Enables complex multi-turn dialog and richer sentence intent understanding.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703320"/>
            <a:ext cx="5486400" cy="2468880"/>
          </a:xfrm>
          <a:prstGeom prst="roundRect">
            <a:avLst/>
          </a:prstGeom>
          <a:solidFill>
            <a:srgbClr val="131D32"/>
          </a:solidFill>
          <a:ln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411480" cy="411480"/>
          </a:xfrm>
          <a:prstGeom prst="roundRect">
            <a:avLst/>
          </a:prstGeom>
          <a:solidFill>
            <a:srgbClr val="00D4B2"/>
          </a:solidFill>
          <a:ln>
            <a:solidFill>
              <a:srgbClr val="00D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120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867912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2D Systolic Array MAC Acceleration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89120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[&gt;]  Upgrade time-multiplexed MAC array to 2D systolic matrix architecture.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[&gt;]  Concurrent token dot-products overlap attention and feed-forward stages.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[&gt;]  Targeting sub-50 us total latency (over 2.2x throughput increase).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03320"/>
            <a:ext cx="5486400" cy="2468880"/>
          </a:xfrm>
          <a:prstGeom prst="roundRect">
            <a:avLst/>
          </a:prstGeom>
          <a:solidFill>
            <a:srgbClr val="131D32"/>
          </a:solidFill>
          <a:ln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0" y="3886200"/>
            <a:ext cx="411480" cy="411480"/>
          </a:xfrm>
          <a:prstGeom prst="roundRect">
            <a:avLst/>
          </a:prstGeom>
          <a:solidFill>
            <a:srgbClr val="00D4B2"/>
          </a:solidFill>
          <a:ln>
            <a:solidFill>
              <a:srgbClr val="00D4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120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867912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Sub-Byte (INT4 / FP8) Mixed Precision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389120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[&gt;]  Implement INT4 weight quantization with INT8 activation datapath.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[&gt;]  Halves on-chip BRAM footprint, fitting larger transformer vocabularies.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[&gt;]  Maintains high classification fidelity with zero accuracy loss.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1689</Words>
  <Application>Microsoft Office PowerPoint</Application>
  <PresentationFormat>Custom</PresentationFormat>
  <Paragraphs>345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shailesh a</cp:lastModifiedBy>
  <cp:revision>1</cp:revision>
  <dcterms:created xsi:type="dcterms:W3CDTF">2013-01-27T09:14:16Z</dcterms:created>
  <dcterms:modified xsi:type="dcterms:W3CDTF">2026-09-07T10:02:29Z</dcterms:modified>
  <cp:category/>
</cp:coreProperties>
</file>