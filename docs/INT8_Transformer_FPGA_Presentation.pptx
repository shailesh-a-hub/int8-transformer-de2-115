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1274552" cy="384048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FF"/>
                </a:solidFill>
              </a:rPr>
              <a:t>INT8 Transformer Attention Accelerator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on Terasic DE2-115 FPGA  |  Cyclone IV EP4CE115F29C7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218688"/>
            <a:ext cx="9445752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8E0"/>
                </a:solidFill>
              </a:rPr>
              <a:t>Edge Spoken Intent Classification  *  3 Softmax Architectures  *  18/18 Tests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88620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E576"/>
                </a:solidFill>
              </a:rPr>
              <a:t>Tier 0 — Integer-Native Shift (Proposed)</a:t>
            </a:r>
          </a:p>
          <a:p>
            <a:pPr algn="l"/>
            <a:r>
              <a:rPr sz="1400" b="0">
                <a:solidFill>
                  <a:srgbClr val="00E576"/>
                </a:solidFill>
              </a:rPr>
              <a:t>Tier 1 — 16-LUT Refinement (Proposed)</a:t>
            </a:r>
          </a:p>
          <a:p>
            <a:pPr algn="l"/>
            <a:r>
              <a:rPr sz="1400" b="0">
                <a:solidFill>
                  <a:srgbClr val="B0C8E0"/>
                </a:solidFill>
              </a:rPr>
              <a:t>Version A — Conventional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C3AED"/>
                </a:solidFill>
              </a:rPr>
              <a:t>github.com/Shailesh-A-hub/int8-transformer-de2-115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8E0"/>
                </a:solidFill>
              </a:rPr>
              <a:t>Pure Verilog-2001  |  ModelSim Verified  |  Quartus Prime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6858000" cy="539496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The Challenge: Transformers on Edge FPGAs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6492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8E0"/>
                </a:solidFill>
              </a:rPr>
              <a:t>* Transformers achieve state-of-the-art accuracy in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NLP and speech intent classification tasks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* Standard Softmax requires floating-point exponentials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— NOT natively supported on Cyclone IV FPGA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* Conventional workaround = Fixed-Point Detour: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INT8 Scores -&gt; Descale -&gt; 256-entry Exp LUT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-&gt; Sum -&gt; Divide -&gt; Requantize -&gt; INT8 Output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* This detour introduces: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Extra latency (descale + requant stages = +16 cycles/row)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Heavy memory: 256-entry exponential ROM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Multiplier usage for scaling operations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822960"/>
            <a:ext cx="4434840" cy="2286000"/>
          </a:xfrm>
          <a:prstGeom prst="rect">
            <a:avLst/>
          </a:prstGeom>
          <a:solidFill>
            <a:srgbClr val="122238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91440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389888"/>
            <a:ext cx="4069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Can integer-native Softmax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eliminate the fixed-point detour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on a Cyclone IV FPGA,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achieving lower latency while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preserving 100% accuracy?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3291840"/>
            <a:ext cx="4434840" cy="2926080"/>
          </a:xfrm>
          <a:prstGeom prst="rect">
            <a:avLst/>
          </a:prstGeom>
          <a:solidFill>
            <a:srgbClr val="102518"/>
          </a:solidFill>
          <a:ln w="1524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38328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76"/>
                </a:solidFill>
              </a:rPr>
              <a:t>Target System Specs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84048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FPGA:    Cyclone IV EP4CE115F29C7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Board:   Terasic DE2-115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Clock:   50 MHz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Task:    Edge Intent Classification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 = 8 tokens,  D = 32 dims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Vocab:   32 tokens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Classes: 6 smart home intents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System Architecture — 8-Stage Inference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
Token
Embed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1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3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
Q/K/V
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351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5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
Attn
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5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
Softmax
(3 modes)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787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59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
Context
Aggr.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547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19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1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
Mean
Pool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1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
Classify
Logits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011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3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9555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
Argmax
Intent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11"/>
                </a:solidFill>
              </a:rPr>
              <a:t>  &lt;-- Your Research Contribution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423160"/>
            <a:ext cx="356616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Inputs (Board Switches)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294436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SW[4:2] -- Sentence selector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SW[1:0] -- Softmax mode (0,1,A)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KEY[1]  -- Trigger inference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KEY[0]  -- System reset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0 -&gt; Turn on the lights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1 -&gt; Turn off the lights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2 -&gt; Increase the volume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3 -&gt; Decrease the volume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4 -&gt; Turn on the heat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5 -&gt; Turn off the heat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0" y="2423160"/>
            <a:ext cx="411480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0" y="2514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RTL Modules (10 .v files)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2944368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de2_115_top.v     Top-level entity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attention_engine.v  11-stage FSM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weight_roms.v     Self-contained ROMs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int8_mac_array.v  8-lane INT8 MAC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restoring_divider.v  24-bit divider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softmax_tier0.v   Shift-only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softmax_tier1.v   16-LUT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softmax_detour_vA.v  Baseline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cycle_counter.v   HW timing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uart_tx.v         Serial output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2423160"/>
            <a:ext cx="361188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0" y="251460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76"/>
                </a:solidFill>
              </a:rPr>
              <a:t>Outputs (7-seg + LEDs)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2944368"/>
            <a:ext cx="3337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HEX0       Intent class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HEX1       Softmax mode (0,1,A)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HEX2       Sentence ID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HEX3       Separator dash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HEX7-HEX4  Cycle count (hex)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LEDR[17:0] Mirror all switches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LEDG[0]    Engine busy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LEDG[1]    Inference done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LEDG[2]    Heartbeat (1.5 Hz)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3 Softmax Architectures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3794760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355E"/>
                </a:solidFill>
              </a:rPr>
              <a:t>Version A  (Baseline)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Conventional Fixed-Point Detour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9344"/>
            <a:ext cx="3429000" cy="254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3429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Descale: z = S -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Exp LUT: 256-entry ROM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5. Requantize to INT8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Softmax Cycles:  2,008</a:t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Total Cycles:    5,688</a:t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Latency @50MHz:  113.76 us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256-entry exponential ROM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Descale +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Extra pipeline overhead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804672"/>
            <a:ext cx="3794760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89611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76"/>
                </a:solidFill>
              </a:rPr>
              <a:t>Tier 0  (Proposed)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2618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Integer-Native Base-2 Shift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609344"/>
            <a:ext cx="3429000" cy="254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737360"/>
            <a:ext cx="3429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Shift amount: t = (-z) x 23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Barrel shift: w = 32768 &gt;&gt; t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(No Exp ROM needed!)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Softmax Cycles:  1,880</a:t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Total Cycles:    5,560</a:t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Latency @50MHz:  111.20 us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ZERO exponential ROM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ZERO descale /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Pure barrel shifter logic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804672"/>
            <a:ext cx="3749039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8961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Tier 1  (Proposed)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2618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Base-2 Shift + 16-Entry LUT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609344"/>
            <a:ext cx="338328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737360"/>
            <a:ext cx="3383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Q4.4 decompose: q = t&gt;&gt;4, f = t&amp;F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LUT[f]: reads 16-entry frac table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w = LUT[f] &gt;&gt; q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Softmax Cycles:  1,880</a:t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Total Cycles:    5,560</a:t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Latency @50MHz:  111.20 us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Only 16-word fractional LUT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No descale /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Highest numerical precision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Simulation Results — ModelSim 10.5b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11640312" cy="914400"/>
          </a:xfrm>
          <a:prstGeom prst="rect">
            <a:avLst/>
          </a:prstGeom>
          <a:solidFill>
            <a:srgbClr val="003018"/>
          </a:solidFill>
          <a:ln w="254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4183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E576"/>
                </a:solidFill>
              </a:rPr>
              <a:t>18 / 18 Tests PASSED   |   0 Errors   |   0 Warnings   |   100% 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74519"/>
            <a:ext cx="11640312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Softmax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Total Cycles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Latency @50MHz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Cycle Saving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58568"/>
            <a:ext cx="11640312" cy="457200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Version A (Baseline)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2,008 cycles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5,688 cycles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113.76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--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734056"/>
            <a:ext cx="11640312" cy="457200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Tier 0 -- Shift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1,880 cycles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5,560 cycles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111.20 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-128 cycles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209544"/>
            <a:ext cx="11640312" cy="457200"/>
          </a:xfrm>
          <a:prstGeom prst="rect">
            <a:avLst/>
          </a:prstGeom>
          <a:solidFill>
            <a:srgbClr val="08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Tier 1 -- 16-LUT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1,880 cycles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5,560 cycles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111.20 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-128 cycles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3794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E030"/>
                </a:solidFill>
              </a:rPr>
              <a:t>Numerical Accuracy vs FP64 Baseline (1,000 synthetic vectors)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160520"/>
            <a:ext cx="11640312" cy="2540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4206240"/>
            <a:ext cx="11640312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Variant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032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Mean Abs Error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Max Error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KL Divergence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Rank Inversions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11640312" cy="43891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Version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0.100967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0.401563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0.532291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0.00%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029200"/>
            <a:ext cx="11640312" cy="438912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Tier 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0.002312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0.009236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0.016769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264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486400"/>
            <a:ext cx="11640312" cy="438912"/>
          </a:xfrm>
          <a:prstGeom prst="rect">
            <a:avLst/>
          </a:prstGeom>
          <a:solidFill>
            <a:srgbClr val="08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Tier 1 (*)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6032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0.000246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0.000979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0.014876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E030"/>
                </a:solidFill>
              </a:rPr>
              <a:t>(*) Tier 1 = 400x lower error than Version A  |  10x lower than Tier 0  |  Same latency as Tier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Live FPGA Demo — DE2-115 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6858000" cy="580644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Switch Settings &amp; Expected Outputs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649224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SW4 SW3 SW2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HEX2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HEX0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LEDR[4:0]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73352"/>
            <a:ext cx="6492240" cy="621792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81051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Turn on lights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181051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D   D  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810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810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8105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331720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468879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off lights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46887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D   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46887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246887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46887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00100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990088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Increase volume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1272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U  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01000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648456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78561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Decrease volume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378561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U   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78561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378561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7856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01100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306824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44398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on heat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444398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U   D   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44439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0680" y="44439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4439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10000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965192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1023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off heat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51023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U   D   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5102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5102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510235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10100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577900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E030"/>
                </a:solidFill>
              </a:rPr>
              <a:t>U=Up, D=Down    HEX0 must always equal HEX2  ==&gt;  100% classification accuracy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804672"/>
            <a:ext cx="4663440" cy="25603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79" y="8961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76"/>
                </a:solidFill>
              </a:rPr>
              <a:t>Green LED Status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79" y="1325880"/>
            <a:ext cx="4297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LEDG[0]  Engine BUSY (brief flicker ~111us)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LEDG[1]  DONE -- stays ON after inference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LEDG[2]  Heartbeat -- blinks 1.5x per sec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      Proves bitstream is running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3547872"/>
            <a:ext cx="4663440" cy="3063240"/>
          </a:xfrm>
          <a:prstGeom prst="rect">
            <a:avLst/>
          </a:prstGeom>
          <a:solidFill>
            <a:srgbClr val="13273E"/>
          </a:solidFill>
          <a:ln w="1270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36393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11"/>
                </a:solidFill>
              </a:rPr>
              <a:t>Cycle Count Demo (Research Proof)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4069080"/>
            <a:ext cx="4297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Fix sentence 0 (all SW4:2=DOWN), then: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00E576"/>
                </a:solidFill>
              </a:rPr>
              <a:t>SW1=D SW0=D -&gt; HEX1='0' Tier 0</a:t>
            </a:r>
          </a:p>
          <a:p>
            <a:pPr algn="l"/>
            <a:r>
              <a:rPr sz="1200" b="0">
                <a:solidFill>
                  <a:srgbClr val="00E576"/>
                </a:solidFill>
              </a:rPr>
              <a:t>  HEX7-4 shows: 1 5 b 8 (5560 cycles)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SW1=D SW0=U -&gt; HEX1='1' Tier 1</a:t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  HEX7-4 shows: 1 5 b 8 (5560 cycles)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355E"/>
                </a:solidFill>
              </a:rPr>
              <a:t>SW1=U SW0=D -&gt; HEX1='A' Version A</a:t>
            </a:r>
          </a:p>
          <a:p>
            <a:pPr algn="l"/>
            <a:r>
              <a:rPr sz="1200" b="0">
                <a:solidFill>
                  <a:srgbClr val="FF355E"/>
                </a:solidFill>
              </a:rPr>
              <a:t>  HEX7-4 shows: 1 6 3 8 (5688 cycles)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7F11"/>
                </a:solidFill>
              </a:rPr>
              <a:t>  LIVE PROOF: 128 more cycles on Ver.A!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Key Findings &amp; Research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41248"/>
            <a:ext cx="411480" cy="41148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76"/>
                </a:solidFill>
              </a:rPr>
              <a:t>128-Cycle Softmax Speedup on Silicon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298448"/>
            <a:ext cx="3529584" cy="254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Integer-native Tier 0 &amp; Tier 1 each save 128 clock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cycles per inference vs conventional Version A.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Proven LIVE on DE2-115 7-seg cycle counter.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841248"/>
            <a:ext cx="411480" cy="4114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Zero Exponential ROM in Tier 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1298448"/>
            <a:ext cx="3529584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Tier 0 eliminates the 256-entry exponential LUT.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 pure arithmetic barrel shift replaces the ROM.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Math: e^z ~= 2^(z x log2(e)) -- no table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FFE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841248"/>
            <a:ext cx="411480" cy="41148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E030"/>
                </a:solidFill>
              </a:rPr>
              <a:t>Tier 1: 400x Higher Precision Than Ver.A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7" y="1298448"/>
            <a:ext cx="3529584" cy="2540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7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16-entry fractional LUT adds sub-shift correction.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MAE = 0.000246 vs Version A MAE = 0.100967.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Same 1,880-cycle latency as Tier 0 -- free precision.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76732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767328"/>
            <a:ext cx="411480" cy="4114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794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22191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11"/>
                </a:solidFill>
              </a:rPr>
              <a:t>100% Accuracy Across All 6 Intents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224528"/>
            <a:ext cx="3529584" cy="2540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433425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18/18 ModelSim tests passed across all 3 variants.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All 6 smart home commands classified correctly: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lights, volume, and heat on/off.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76732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59" y="3767328"/>
            <a:ext cx="4114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79" y="3794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79" y="3822191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Pure Verilog-2001 -- Synthesis Ready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4224528"/>
            <a:ext cx="3529584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433425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Full codebase in Verilog-2001 (no SystemVerilog).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Weights baked into ROMs -- no external .hex needed.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Compiles cleanly in Quartus Prime 18.1: 0 errors.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04672"/>
            <a:ext cx="11640312" cy="1051560"/>
          </a:xfrm>
          <a:prstGeom prst="rect">
            <a:avLst/>
          </a:prstGeom>
          <a:solidFill>
            <a:srgbClr val="082518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77824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00E576"/>
                </a:solidFill>
              </a:rPr>
              <a:t>"Integer-native Softmax eliminates the fixed-point detour, saving 128 cycles per inference
on a Cyclone IV FPGA while preserving 100% classification accuracy."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11680"/>
            <a:ext cx="7498079" cy="443484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What We 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42032"/>
            <a:ext cx="7132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B0C8E0"/>
                </a:solidFill>
              </a:rPr>
              <a:t>[OK]  3 Softmax architectures in pure Verilog-2001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INT8 pipeline: Embed -&gt; QKV -&gt; Attn -&gt; Pool -&gt; Classify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18/18 end-to-end tests passed in ModelSim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128-cycle savings proven (Tier 0 &amp; 1 vs Version A)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Tier 1: 400x lower numerical error than Version A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Weights baked in -- no external file dependency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Deployed on Terasic DE2-115 at 50 MHz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6 smart home intent classes classified correctly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2011680"/>
            <a:ext cx="3931920" cy="4434840"/>
          </a:xfrm>
          <a:prstGeom prst="rect">
            <a:avLst/>
          </a:prstGeom>
          <a:solidFill>
            <a:srgbClr val="1327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Project Info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D4FF"/>
                </a:solidFill>
              </a:rPr>
              <a:t>Hardware: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Cyclone IV EP4CE115F29C7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Terasic DE2-115 Board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Language:  Pure Verilog-2001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Simulation:  ModelSim ASE 10.5b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Synthesis:   Quartus Prime 18.1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7C3AED"/>
                </a:solidFill>
              </a:rPr>
              <a:t>Repository: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github.com/Shailesh-A-hub/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int8-transformer-de2-115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649224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E030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Quick Reference — Board Demo Cheat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11640312" cy="3794760"/>
          </a:xfrm>
          <a:prstGeom prst="rect">
            <a:avLst/>
          </a:prstGeom>
          <a:solidFill>
            <a:srgbClr val="0F1E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0312" cy="475488"/>
          </a:xfrm>
          <a:prstGeom prst="rect">
            <a:avLst/>
          </a:prstGeom>
          <a:solidFill>
            <a:srgbClr val="1A3A5C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914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591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2112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5344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914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Red LEDs (LEDR4-0)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0688" y="914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HEX2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914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HEX0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39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08960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22191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17536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48672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1298448"/>
            <a:ext cx="11640312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298448"/>
            <a:ext cx="11640312" cy="539496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1837943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141731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576"/>
                </a:solidFill>
              </a:rPr>
              <a:t>Lights 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1417319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0C8E0"/>
                </a:solidFill>
              </a:rPr>
              <a:t>OFF  OFF  OFF  OFF  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141731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E030"/>
                </a:solidFill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141731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837943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2377439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195681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Lights 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0591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82112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1956815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OFF  ON   OFF  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90688" y="1956815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1956815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377439"/>
            <a:ext cx="11640312" cy="539496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" y="2916935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249631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Vol 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50591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82112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5344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45152" y="2496311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ON   OFF  OFF  OFF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90688" y="2496311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496311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2916936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3456432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7472" y="30358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Vol DOWN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50591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82112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95344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45152" y="303580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ON   ON   OFF  OFF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358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30358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3456432"/>
            <a:ext cx="11640312" cy="539496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74320" y="3995928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7472" y="357530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Heat 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50591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95344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45152" y="357530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ON   OFF  OFF  OFF  OFF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90688" y="3575303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0" y="3575303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3995927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4320" y="4535423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7472" y="411479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Heat 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50591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95344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45152" y="4114799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ON   OFF  ON   OFF  OFF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90688" y="411479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61120" y="411479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4754880"/>
            <a:ext cx="11640312" cy="1051560"/>
          </a:xfrm>
          <a:prstGeom prst="rect">
            <a:avLst/>
          </a:prstGeom>
          <a:solidFill>
            <a:srgbClr val="0D1E35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4320" y="4754880"/>
            <a:ext cx="11640312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4828032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E576"/>
                </a:solidFill>
              </a:rPr>
              <a:t>MODE switches  -&gt;  SW1=↓  SW0=↓   -&gt;   HEX1 = 0,  cycles = 15b8  (Tier 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920" y="5129784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</a:rPr>
              <a:t>               -&gt;  SW1=↓  SW0=↑   -&gt;   HEX1 = 1,  cycles = 15b8  (Tier 1)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5431536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355E"/>
                </a:solidFill>
              </a:rPr>
              <a:t>               -&gt;  SW1=↑  SW0=↓   -&gt;   HEX1 = A,  cycles = 1638  (Version A)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5897880"/>
            <a:ext cx="11640312" cy="566928"/>
          </a:xfrm>
          <a:prstGeom prst="rect">
            <a:avLst/>
          </a:prstGeom>
          <a:solidFill>
            <a:srgbClr val="102210"/>
          </a:solidFill>
          <a:ln w="1524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0" y="59893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0E576"/>
                </a:solidFill>
              </a:rPr>
              <a:t>LEDG0 = blink briefly (BUSY)          LEDG1 = stays ON (DONE)          LEDG2 = heartbeat (always blinks 1.5 Hz)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4320" y="6556248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FFE030"/>
                </a:solidFill>
              </a:rPr>
              <a:t>KEY[0] = Reset board     |     KEY[1] = Manually re-trigger inference     |     HEX0 must always equal HEX2 =&gt; 100%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