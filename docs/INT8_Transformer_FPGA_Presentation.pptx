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1274552" cy="384048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00D4FF"/>
                </a:solidFill>
              </a:rPr>
              <a:t>INT8 Transformer Attention Accelerator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</a:rPr>
              <a:t>on Terasic DE2-115 FPGA  |  Cyclone IV EP4CE115F29C7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218688"/>
            <a:ext cx="9445752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B0C8E0"/>
                </a:solidFill>
              </a:rPr>
              <a:t>Edge Spoken Intent Classification  *  3 Softmax Architectures  *  18/18 Tests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88620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0E576"/>
                </a:solidFill>
              </a:rPr>
              <a:t>Tier 0 — Integer-Native Shift (Proposed)</a:t>
            </a:r>
          </a:p>
          <a:p>
            <a:pPr algn="l"/>
            <a:r>
              <a:rPr sz="1400" b="0">
                <a:solidFill>
                  <a:srgbClr val="00E576"/>
                </a:solidFill>
              </a:rPr>
              <a:t>Tier 1 — 16-LUT Refinement (Proposed)</a:t>
            </a:r>
          </a:p>
          <a:p>
            <a:pPr algn="l"/>
            <a:r>
              <a:rPr sz="1400" b="0">
                <a:solidFill>
                  <a:srgbClr val="B0C8E0"/>
                </a:solidFill>
              </a:rPr>
              <a:t>Version A — Conventional 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7C3AED"/>
                </a:solidFill>
              </a:rPr>
              <a:t>github.com/Shailesh-A-hub/int8-transformer-de2-115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4652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C8E0"/>
                </a:solidFill>
              </a:rPr>
              <a:t>Pure Verilog-2001  |  ModelSim Verified  |  Quartus Prime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22960"/>
            <a:ext cx="6858000" cy="539496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6492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FF"/>
                </a:solidFill>
              </a:rPr>
              <a:t>The Challenge: Transformers on Edge FPGAs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6492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0C8E0"/>
                </a:solidFill>
              </a:rPr>
              <a:t>* Transformers achieve state-of-the-art accuracy in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NLP and speech intent classification tasks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* Standard Softmax requires floating-point exponentials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— NOT natively supported on Cyclone IV FPGA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* Conventional workaround = Fixed-Point Detour: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INT8 Scores -&gt; Descale -&gt; 256-entry Exp LUT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-&gt; Sum -&gt; Divide -&gt; Requantize -&gt; INT8 Output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* This detour introduces: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Extra latency (descale + requant stages = +16 cycles/row)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Heavy memory: 256-entry exponential ROM</a:t>
            </a:r>
          </a:p>
          <a:p>
            <a:pPr algn="l"/>
            <a:r>
              <a:rPr sz="1300" b="0">
                <a:solidFill>
                  <a:srgbClr val="B0C8E0"/>
                </a:solidFill>
              </a:rPr>
              <a:t>  - Multiplier usage for scaling operations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822960"/>
            <a:ext cx="4434840" cy="2286000"/>
          </a:xfrm>
          <a:prstGeom prst="rect">
            <a:avLst/>
          </a:prstGeom>
          <a:solidFill>
            <a:srgbClr val="122238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91440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Research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389888"/>
            <a:ext cx="4069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Can integer-native Softmax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eliminate the fixed-point detour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on a Cyclone IV FPGA,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achieving lower latency while</a:t>
            </a:r>
          </a:p>
          <a:p>
            <a:pPr algn="l"/>
            <a:r>
              <a:rPr sz="1300" b="0">
                <a:solidFill>
                  <a:srgbClr val="FFFFFF"/>
                </a:solidFill>
              </a:rPr>
              <a:t>preserving 100% accuracy?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3291840"/>
            <a:ext cx="4434840" cy="2926080"/>
          </a:xfrm>
          <a:prstGeom prst="rect">
            <a:avLst/>
          </a:prstGeom>
          <a:solidFill>
            <a:srgbClr val="102518"/>
          </a:solidFill>
          <a:ln w="1524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3383280"/>
            <a:ext cx="4069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Target System Specs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3840480"/>
            <a:ext cx="4069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FPGA:    Cyclone IV EP4CE115F29C7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Board:   Terasic DE2-115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Clock:   50 MHz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Task:    Edge Intent Classification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 = 8 tokens,  D = 32 dims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Vocab:   32 tokens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Classes: 6 smart home intents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System Architecture — 8-Stage Inference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1
Token
Embed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3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2
Q/K/V
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535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3
Attn
Scores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5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4
Softmax
(3 modes)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8815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9787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59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5
Context
Aggr.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547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19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1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6
Mean
Pool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2279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1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7
Classify
Logits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40111" y="1298448"/>
            <a:ext cx="1463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D4FF"/>
                </a:solidFill>
              </a:rPr>
              <a:t>-&gt;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49839" y="914400"/>
            <a:ext cx="1298448" cy="123444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95559" y="960120"/>
            <a:ext cx="1207007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8
Argmax
Intent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217627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7F11"/>
                </a:solidFill>
              </a:rPr>
              <a:t>  &lt;-- Your Research Contribution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2423160"/>
            <a:ext cx="356616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5146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Inputs (Board Switches)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944368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SW[4:2] -- Sentence selector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SW[1:0] --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KEY[1]  -- Trigger inference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KEY[0]  -- System reset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0 -&gt; Turn on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1 -&gt; Turn off the lights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2 -&gt; Increase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3 -&gt; Decrease the volume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4 -&gt; Turn on the heat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5 -&gt; Turn off the heat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23360" y="2423160"/>
            <a:ext cx="411480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06240" y="2514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RTL Modules (10 .v files)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6240" y="2944368"/>
            <a:ext cx="38404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de2_115_top.v     Top-level entity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attention_engine.v  11-stage FSM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weight_roms.v     Self-contained ROMs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int8_mac_array.v  8-lane INT8 MAC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restoring_divider.v  24-bit divider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softmax_tier0.v   Shift-only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softmax_tier1.v   16-LUT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softmax_detour_vA.v  Baseline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cycle_counter.v   HW timing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uart_tx.v         Serial output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321040" y="2423160"/>
            <a:ext cx="3611880" cy="41605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03920" y="251460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Outputs (7-seg + LEDs)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2944368"/>
            <a:ext cx="33375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HEX0       Intent class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HEX1       Softmax mode (0,1,A)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HEX2       Sentence ID (0-5)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HEX3       Separator dash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HEX7-HEX4  Cycle count (hex)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LEDR[17:0] Mirror all switches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LEDG[0]    Engine busy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LEDG[1]    Inference done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LEDG[2]    Heartbeat (1.5 Hz)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3 Softmax Architectures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FF3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355E"/>
                </a:solidFill>
              </a:rPr>
              <a:t>Version A  (Baseline)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Conventional Fixed-Point Detour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09344"/>
            <a:ext cx="3429000" cy="25400"/>
          </a:xfrm>
          <a:prstGeom prst="rect">
            <a:avLst/>
          </a:prstGeom>
          <a:solidFill>
            <a:srgbClr val="FF3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Descale: z = S -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Exp LUT: 256-entry ROM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5. Requantize to INT8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Softmax Cycles:  2,008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Total Cycles:    5,688</a:t>
            </a:r>
          </a:p>
          <a:p>
            <a:pPr algn="l"/>
            <a:r>
              <a:rPr sz="1250" b="0">
                <a:solidFill>
                  <a:srgbClr val="FF355E"/>
                </a:solidFill>
              </a:rPr>
              <a:t>Latency @50MHz:  113.76 us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256-entry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Descale +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Extra pipeline overhead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24528" y="804672"/>
            <a:ext cx="3794760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896112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E576"/>
                </a:solidFill>
              </a:rPr>
              <a:t>Tier 0  (Proposed)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126187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Integer-Native Base-2 Shift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7408" y="1609344"/>
            <a:ext cx="3429000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8" y="1737360"/>
            <a:ext cx="3429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Shift amount: t = (-z) x 23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Barrel shift: w = 32768 &gt;&gt; 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(No Exp ROM needed!)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E576"/>
                </a:solidFill>
              </a:rPr>
              <a:t>Latency @50MHz:  111.20 us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exponential ROM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ZERO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Pure barrel shifter logic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804672"/>
            <a:ext cx="3749039" cy="576072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8961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Tier 1  (Proposed)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26187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0C8E0"/>
                </a:solidFill>
              </a:rPr>
              <a:t>Base-2 Shift + 16-Entry LUT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609344"/>
            <a:ext cx="3383280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737360"/>
            <a:ext cx="3383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1. Find Max (8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2. Q4.4 decompose: q = t&gt;&gt;4, f = t&amp;F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3. LUT[f]: reads 16-entry frac table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w = LUT[f] &gt;&gt; q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4. Restoring Divider x8 (192 cycles)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Softmax Cycles:  1,880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Total Cycles:    5,560</a:t>
            </a:r>
          </a:p>
          <a:p>
            <a:pPr algn="l"/>
            <a:r>
              <a:rPr sz="1250" b="0">
                <a:solidFill>
                  <a:srgbClr val="00D4FF"/>
                </a:solidFill>
              </a:rPr>
              <a:t>Latency @50MHz:  111.20 us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Resources: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Only 16-word fractional LUT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No descale / requant stages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* Highest numerical precision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Simulation Results — ModelSim 10.5b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04672"/>
            <a:ext cx="11640312" cy="914400"/>
          </a:xfrm>
          <a:prstGeom prst="rect">
            <a:avLst/>
          </a:prstGeom>
          <a:solidFill>
            <a:srgbClr val="003018"/>
          </a:solidFill>
          <a:ln w="254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41832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E576"/>
                </a:solidFill>
              </a:rPr>
              <a:t>18 / 18 Tests PASSED   |   0 Errors   |   0 Warnings   |   100% Accuracy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874519"/>
            <a:ext cx="11640312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Softmax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Total Cycles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Latency @50MHz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19202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Cycle Saving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58568"/>
            <a:ext cx="11640312" cy="457200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 (Baseline)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2,008 cycles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5,688 cycles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113.76 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33172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--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734056"/>
            <a:ext cx="11640312" cy="457200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0 -- Shift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1,880 cycles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5,560 cycles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111.20 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80720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-128 cycles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209544"/>
            <a:ext cx="11640312" cy="457200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1 -- 16-LUT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1,880 cycles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5,560 cycles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111.20 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3282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-128 cycles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37947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E030"/>
                </a:solidFill>
              </a:rPr>
              <a:t>Numerical Accuracy vs FP64 Baseline (1,000 synthetic vectors)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160520"/>
            <a:ext cx="11640312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" y="4206240"/>
            <a:ext cx="11640312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Variant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603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Mean Abs Error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Max Error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KL Divergence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92640" y="42519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Rank Inversions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572000"/>
            <a:ext cx="11640312" cy="43891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Version 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603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0.100967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0.401563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79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0.532291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6451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0.00%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029200"/>
            <a:ext cx="11640312" cy="43891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Tier 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0.002312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0.009236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98079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0.016769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2640" y="51023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0.00%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" y="5486400"/>
            <a:ext cx="11640312" cy="438912"/>
          </a:xfrm>
          <a:prstGeom prst="rect">
            <a:avLst/>
          </a:prstGeom>
          <a:solidFill>
            <a:srgbClr val="0818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Tier 1 (*)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603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0.000246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0352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0.000979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0.014876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9264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D4FF"/>
                </a:solidFill>
              </a:rPr>
              <a:t>0.00%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473952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FFE030"/>
                </a:solidFill>
              </a:rPr>
              <a:t>(*) Tier 1 = 400x lower error than Version A  |  10x lower than Tier 0  |  Same latency as Tier 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Live FPGA Demo — DE2-115 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804672"/>
            <a:ext cx="6858000" cy="58064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96112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FF"/>
                </a:solidFill>
              </a:rPr>
              <a:t>Switch Settings &amp; Expected Outputs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6492240" cy="34747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Sentence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SW4 SW3 SW2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HEX2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HEX0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3716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LEDR[4:0]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73352"/>
            <a:ext cx="6492240" cy="621792"/>
          </a:xfrm>
          <a:prstGeom prst="rect">
            <a:avLst/>
          </a:prstGeom>
          <a:solidFill>
            <a:srgbClr val="0A22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181051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Turn on lights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181051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D   D  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1810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8105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00E576"/>
                </a:solidFill>
              </a:rPr>
              <a:t>00000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331720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468879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lights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2468879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D   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2468879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468879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00100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990088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27248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Increase volume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1272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3648456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785616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Decrease volume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3785616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D   U   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40680" y="378561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7856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01100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306824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443984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on heat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86000" y="444398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484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444398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26480" y="44439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4965192"/>
            <a:ext cx="6492240" cy="621792"/>
          </a:xfrm>
          <a:prstGeom prst="rect">
            <a:avLst/>
          </a:prstGeom>
          <a:solidFill>
            <a:srgbClr val="132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102352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Turn off heat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286000" y="510235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U   D   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484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5102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510235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0">
                <a:solidFill>
                  <a:srgbClr val="B0C8E0"/>
                </a:solidFill>
              </a:rPr>
              <a:t>10100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5779008"/>
            <a:ext cx="6492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E030"/>
                </a:solidFill>
              </a:rPr>
              <a:t>U=Up, D=Down    HEX0 must always equal HEX2  ==&gt;  100% classification accuracy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0" y="804672"/>
            <a:ext cx="4663440" cy="2560320"/>
          </a:xfrm>
          <a:prstGeom prst="rect">
            <a:avLst/>
          </a:prstGeom>
          <a:solidFill>
            <a:srgbClr val="13273E"/>
          </a:solidFill>
          <a:ln w="1270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79" y="8961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E576"/>
                </a:solidFill>
              </a:rPr>
              <a:t>Green LED Status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1325880"/>
            <a:ext cx="4297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B0C8E0"/>
                </a:solidFill>
              </a:rPr>
              <a:t>LEDG[0]  Engine BUSY (brief flicker ~111us)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LEDG[1]  DONE -- stays ON after inference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LEDG[2]  Heartbeat -- blinks 1.5x per sec</a:t>
            </a:r>
          </a:p>
          <a:p>
            <a:pPr algn="l"/>
            <a:r>
              <a:rPr sz="1250" b="0">
                <a:solidFill>
                  <a:srgbClr val="B0C8E0"/>
                </a:solidFill>
              </a:rPr>
              <a:t>         Proves bitstream is running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3547872"/>
            <a:ext cx="4663440" cy="3063240"/>
          </a:xfrm>
          <a:prstGeom prst="rect">
            <a:avLst/>
          </a:prstGeom>
          <a:solidFill>
            <a:srgbClr val="13273E"/>
          </a:solidFill>
          <a:ln w="1270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79" y="3639312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Cycle Count Demo (Research Proof)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498079" y="4069080"/>
            <a:ext cx="42976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Fix sentence 0 (all SW4:2=DOWN), then: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00E576"/>
                </a:solidFill>
              </a:rPr>
              <a:t>SW1=D SW0=D -&gt; HEX1='0' Tier 0</a:t>
            </a:r>
          </a:p>
          <a:p>
            <a:pPr algn="l"/>
            <a:r>
              <a:rPr sz="1200" b="0">
                <a:solidFill>
                  <a:srgbClr val="00E576"/>
                </a:solidFill>
              </a:rPr>
              <a:t>  HEX7-4 shows: 1 5 b 8 (5560 cycles)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SW1=D SW0=U -&gt; HEX1='1' Tier 1</a:t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  HEX7-4 shows: 1 5 b 8 (5560 cycles)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355E"/>
                </a:solidFill>
              </a:rPr>
              <a:t>SW1=U SW0=D -&gt; HEX1='A' Version A</a:t>
            </a:r>
          </a:p>
          <a:p>
            <a:pPr algn="l"/>
            <a:r>
              <a:rPr sz="1200" b="0">
                <a:solidFill>
                  <a:srgbClr val="FF355E"/>
                </a:solidFill>
              </a:rPr>
              <a:t>  HEX7-4 shows: 1 6 3 8 (5688 cycles)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FF7F11"/>
                </a:solidFill>
              </a:rPr>
              <a:t>  LIVE PROOF: 128 more cycles on Ver.A!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D4FF"/>
                </a:solidFill>
              </a:rPr>
              <a:t>Key Findings &amp; Research Contributions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41248"/>
            <a:ext cx="411480" cy="41148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E576"/>
                </a:solidFill>
              </a:rPr>
              <a:t>128-Cycle Softmax Speedup on Silicon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1298448"/>
            <a:ext cx="3529584" cy="25400"/>
          </a:xfrm>
          <a:prstGeom prst="rect">
            <a:avLst/>
          </a:prstGeom>
          <a:solidFill>
            <a:srgbClr val="00E5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Integer-native Tier 0 &amp; Tier 1 each save 128 clock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cycles per inference vs conventional Version A.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Proven LIVE on DE2-115 7-seg cycle counter.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841248"/>
            <a:ext cx="411480" cy="41148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Zero Exponential ROM in Tier 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61688" y="1298448"/>
            <a:ext cx="3529584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Tier 0 eliminates the 256-entry exponential LUT.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 pure arithmetic barrel shift replaces the ROM.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Math: e^z ~= 2^(z x log2(e)) -- no table needed.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84124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E0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841248"/>
            <a:ext cx="411480" cy="41148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8686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896112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E030"/>
                </a:solidFill>
              </a:rPr>
              <a:t>Tier 1: 400x Higher Precision Than Ver.A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39327" y="1298448"/>
            <a:ext cx="3529584" cy="25400"/>
          </a:xfrm>
          <a:prstGeom prst="rect">
            <a:avLst/>
          </a:prstGeom>
          <a:solidFill>
            <a:srgbClr val="FFE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9327" y="140817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16-entry fractional LUT adds sub-shift correction.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MAE = 0.000246 vs Version A MAE = 0.100967.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Same 1,880-cycle latency as Tier 0 -- free precision.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FF7F1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767328"/>
            <a:ext cx="411480" cy="4114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0040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7F11"/>
                </a:solidFill>
              </a:rPr>
              <a:t>100% Accuracy Across All 6 Intents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4224528"/>
            <a:ext cx="3529584" cy="2540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18/18 ModelSim tests passed across all 3 variants.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All 6 smart home commands classified correctly: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lights, volume, and heat on/off.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51959" y="3767328"/>
            <a:ext cx="3749039" cy="2743200"/>
          </a:xfrm>
          <a:prstGeom prst="rect">
            <a:avLst/>
          </a:prstGeom>
          <a:solidFill>
            <a:srgbClr val="13273E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59" y="3767328"/>
            <a:ext cx="411480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97679" y="379476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79" y="3822191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Pure Verilog-2001 -- Synthesis Ready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4224528"/>
            <a:ext cx="3529584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4334256"/>
            <a:ext cx="352958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E0"/>
                </a:solidFill>
              </a:rPr>
              <a:t>Full codebase in Verilog-2001 (no SystemVerilog).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Weights baked into ROMs -- no external .hex needed.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Compiles cleanly in Quartus Prime 18.1: 0 errors.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58368"/>
            <a:ext cx="11430000" cy="25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804672"/>
            <a:ext cx="11640312" cy="1051560"/>
          </a:xfrm>
          <a:prstGeom prst="rect">
            <a:avLst/>
          </a:prstGeom>
          <a:solidFill>
            <a:srgbClr val="082518"/>
          </a:solidFill>
          <a:ln w="19050">
            <a:solidFill>
              <a:srgbClr val="00E5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87782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1">
                <a:solidFill>
                  <a:srgbClr val="00E576"/>
                </a:solidFill>
              </a:rPr>
              <a:t>"Integer-native Softmax eliminates the fixed-point detour, saving 128 cycles per inference
on a Cyclone IV FPGA while preserving 100% classification accuracy."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11680"/>
            <a:ext cx="7498079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10312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FF"/>
                </a:solidFill>
              </a:rPr>
              <a:t>What We Achieved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42032"/>
            <a:ext cx="7132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B0C8E0"/>
                </a:solidFill>
              </a:rPr>
              <a:t>[OK]  3 Softmax architectures in pure Verilog-2001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INT8 pipeline: Embed -&gt; QKV -&gt; Attn -&gt; Pool -&gt; Classify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18/18 end-to-end tests passed in ModelSim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128-cycle savings proven (Tier 0 &amp; 1 vs Version A)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Tier 1: 400x lower numerical error than Version A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Weights baked in -- no external file dependency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Deployed on Terasic DE2-115 at 50 MHz</a:t>
            </a:r>
          </a:p>
          <a:p>
            <a:pPr algn="l"/>
            <a:r>
              <a:rPr sz="1350" b="0">
                <a:solidFill>
                  <a:srgbClr val="B0C8E0"/>
                </a:solidFill>
              </a:rPr>
              <a:t>[OK]  6 smart home intent classes classified correctly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1000" y="2011680"/>
            <a:ext cx="3931920" cy="4434840"/>
          </a:xfrm>
          <a:prstGeom prst="rect">
            <a:avLst/>
          </a:prstGeom>
          <a:solidFill>
            <a:srgbClr val="13273E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C3AED"/>
                </a:solidFill>
              </a:rPr>
              <a:t>Project Info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2542032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D4FF"/>
                </a:solidFill>
              </a:rPr>
              <a:t>Hardware: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Cyclone IV EP4CE115F29C7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Terasic DE2-115 Board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00D4FF"/>
                </a:solidFill>
              </a:rPr>
              <a:t>Language:  Pure Verilog-2001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Simulation:  ModelSim ASE 10.5b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Synthesis:   Quartus Prime 18.1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7C3AED"/>
                </a:solidFill>
              </a:rPr>
              <a:t>Repository: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github.com/Shailesh-A-hub/</a:t>
            </a:r>
          </a:p>
          <a:p>
            <a:pPr algn="l"/>
            <a:r>
              <a:rPr sz="1200" b="0">
                <a:solidFill>
                  <a:srgbClr val="B0C8E0"/>
                </a:solidFill>
              </a:rPr>
              <a:t>  int8-transformer-de2-115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6492240"/>
            <a:ext cx="5760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E030"/>
                </a:solidFill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